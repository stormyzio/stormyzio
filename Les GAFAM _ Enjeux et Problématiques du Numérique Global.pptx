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embeddedFontLst>
    <p:embeddedFont>
      <p:font typeface="Montserrat"/>
      <p:regular r:id="rId15"/>
      <p:bold r:id="rId16"/>
      <p:italic r:id="rId17"/>
      <p:boldItalic r:id="rId18"/>
    </p:embeddedFont>
    <p:embeddedFont>
      <p:font typeface="Inter"/>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iybVXyv6rGLtHiPgJrVenAUT7f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11" Type="http://schemas.openxmlformats.org/officeDocument/2006/relationships/slide" Target="slides/slide7.xml"/><Relationship Id="rId22" Type="http://schemas.openxmlformats.org/officeDocument/2006/relationships/font" Target="fonts/Inter-boldItalic.fntdata"/><Relationship Id="rId10" Type="http://schemas.openxmlformats.org/officeDocument/2006/relationships/slide" Target="slides/slide6.xml"/><Relationship Id="rId21" Type="http://schemas.openxmlformats.org/officeDocument/2006/relationships/font" Target="fonts/Inter-italic.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ontserrat-regular.fntdata"/><Relationship Id="rId14" Type="http://schemas.openxmlformats.org/officeDocument/2006/relationships/slide" Target="slides/slide10.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slide" Target="slides/slide1.xml"/><Relationship Id="rId19" Type="http://schemas.openxmlformats.org/officeDocument/2006/relationships/font" Target="fonts/Inter-regular.fntdata"/><Relationship Id="rId6" Type="http://schemas.openxmlformats.org/officeDocument/2006/relationships/slide" Target="slides/slide2.xml"/><Relationship Id="rId18" Type="http://schemas.openxmlformats.org/officeDocument/2006/relationships/font" Target="fonts/Montserrat-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Bonjour à toutes et à tous. Aujourd'hui, nous allons explorer un sujet central de notre ère numérique : les GAFAM. Ces géants technologiques façonnent notre quotidien, mais leur influence soulève de nombreuses questions. Nous verrons comment ces entreprises sont devenues des acteurs incontournables. Nous aborderons leurs modèles économiques, l'impact de leurs algorithmes, et les défis qu'ils posent à notre société. Préparez-vous à une analyse approfondie des enjeux et problématiques du numérique global. Passons maintenant aux repères historiques pour comprendre leur ascension fulgurante.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Pour comprendre l'ampleur des GAFAM, il faut revenir sur leur histoire. En moins de 50 ans, ces entreprises sont passées de startups à des puissances mondiales. L'arrivée de Microsoft et Apple dans les années 70 a démocratisé l'informatique personnelle. Puis, Amazon et Google ont révolutionné le commerce et l'accès à l'information dans les années 90. Enfin, Facebook et l'iPhone ont marqué l'avènement des réseaux sociaux et de l'internet mobile. Cette chronologie montre une croissance exponentielle et une capacité d'innovation constante. Maintenant, penchons-nous sur les modèles économiques qui ont permis cette domination.</a:t>
            </a:r>
            <a:endParaRPr/>
          </a:p>
        </p:txBody>
      </p:sp>
      <p:sp>
        <p:nvSpPr>
          <p:cNvPr id="47" name="Google Shape;4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Après avoir vu leur évolution, il est crucial de comprendre les modèles économiques des GAFAM. Ces entreprises valorisent la donnée comme ressource principale, notamment via la publicité ciblée. Elles créent des écosystèmes fermés pour fidéliser leurs utilisateurs, rendant difficile le passage à la concurrence. De plus, elles dominent les infrastructures numériques mondiales, du cloud aux systèmes d'exploitation. C'est ce qu'on appelle l'économie de l'attention, où notre temps d'engagement est la véritable monnaie d'échange. Cela nous amène à la question de la centralisation et de l'opacité de leurs algorithmes.</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 modèle économique des GAFAM repose en grande partie sur la centralisation et l'opacité de leurs algorithmes. Nous dépendons de plus en plus de quelques infrastructures mondiales, comme le cloud et les systèmes d'exploitation. Le fonctionnement interne de ces algorithmes reste souvent une "boîte noire", influençant nos choix sans que nous en ayons conscience. Cela crée des bulles de filtres, nous enfermant dans des visions du monde personnalisées et potentiellement biaisées. Cette influence algorithmique a des conséquences directes sur la désinformation et la protection de notre vie privée.</a:t>
            </a:r>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centralisation et l'opacité algorithmique mènent directement à des problématiques majeures comme la désinformation et la protection de la vie privée. Les algorithmes privilégient la viralité, ce qui facilite la propagation des fausses nouvelles. Parallèlement, la collecte massive de nos données personnelles alimente un ciblage publicitaire toujours plus précis. C'est le capitalisme de surveillance, où nos comportements en ligne deviennent des ressources commerciales. Ces phénomènes menacent la polarisation de l'opinion et l'érosion de notre vie privée, des piliers de nos démocraties.</a:t>
            </a:r>
            <a:endParaRPr/>
          </a:p>
        </p:txBody>
      </p:sp>
      <p:sp>
        <p:nvSpPr>
          <p:cNvPr id="104" name="Google Shape;10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Nous abordons maintenant la question cruciale de la souveraineté, de la fiscalité et de l'environnement, des enjeux qui dépassent largement le cadre technologique. Les GAFAM, par leur puissance, défient parfois les législations nationales, posant un problème de souveraineté numérique. Ils utilisent des mécanismes mondiaux pour minimiser leur impôt, créant un décalage entre leurs profits et leur contribution au bien commun. De plus, l'impact environnemental de leurs infrastructures, notamment les centres de données, est considérable. Cela nous pousse à réfléchir à la responsabilité globale de ces acteurs. Mais face à ces défis, de nouvelles opportunités professionnelles émergent, comme nous le verrons sur la prochaine diapositive.</a:t>
            </a:r>
            <a:endParaRP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Après avoir examiné les défis posés par les GAFAM, il est essentiel de se tourner vers les solutions et les opportunités, notamment en termes d'emploi. Le numérique est un secteur en constante évolution, créant de nouveaux métiers spécialisés et très demandés. Le Data Scientist, par exemple, est crucial pour analyser les données massives et éclairer les décisions stratégiques. L'Expert Cyber protège nos systèmes d'information contre les menaces croissantes. L'UX/UI Designer conçoit des interfaces intuitives, améliorant notre expérience numérique. Enfin, le Community Manager gère la présence en ligne des entreprises et l'engagement des communautés. Ces métiers, en constante mutation, nécessitent des compétences spécifiques, que nous allons explorer juste après.</a:t>
            </a:r>
            <a:endParaRPr/>
          </a:p>
        </p:txBody>
      </p:sp>
      <p:sp>
        <p:nvSpPr>
          <p:cNvPr id="139" name="Google Shape;13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Pour embrasser ces nouveaux métiers du numérique, des parcours de formation adaptés et des compétences clés sont indispensables. Les écoles d'ingénieurs, les BTS/BUT informatiques et les universités proposent des cursus variés, du Bac+2 au Bac+5, pour former les futurs professionnels. Au-delà des connaissances techniques, le marché du travail valorise des compétences transversales. L'adaptabilité, l'esprit critique, la collaboration, la veille technologique et l'éthique numérique sont essentielles pour réussir dans ce secteur. Ces compétences nous mènent à une réflexion plus personnelle sur notre rapport au numérique, que je vous présenterai en conclusion.</a:t>
            </a:r>
            <a:endParaRPr/>
          </a:p>
        </p:txBody>
      </p:sp>
      <p:sp>
        <p:nvSpPr>
          <p:cNvPr id="160" name="Google Shape;16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conclusion, il est clair que les GAFAM sont des outils puissants, mais leur hégémonie soulève des questions importantes. Une régulation forte, comme le DMA et le DSA en Europe, est nécessaire pour encadrer leur pouvoir. L'esprit critique et la souveraineté numérique sont des concepts essentiels à développer. Personnellement, j'ai pris conscience de l'influence des algorithmes dans mon usage quotidien. J'ai donc agi concrètement en paramétrant ma vie privée et en m'engageant vers des alternatives plus éthiques. Je vous remercie de votre attention et je suis maintenant à votre disposition pour toute question. Pour ceux qui souhaitent approfondir le sujet, voici quelques références utiles.</a:t>
            </a:r>
            <a:endParaRPr/>
          </a:p>
        </p:txBody>
      </p:sp>
      <p:sp>
        <p:nvSpPr>
          <p:cNvPr id="190" name="Google Shape;19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Pour ceux qui souhaitent approfondir les sujets abordés aujourd'hui, voici une sélection de références. Des ouvrages fondamentaux comme L'Âge du capitalisme de surveillance de Shoshana Zuboff offrent une perspective critique. Des rapports officiels, tels que ceux de la Commission Européenne sur le DMA ou de l'ARCEP sur la souveraineté numérique, fournissent des analyses institutionnelles. Des sites web comme celui de la CNIL ou la rubrique Pixels du Monde sont d'excellentes sources d'information et d'actualité. Enfin, des documentaires comme Derrière nos écrans de fumée peuvent compléter votre compréhension de ces enjeux complexes. Je vous encourage vivement à explorer ces ressources pour enrichir votre réflexion.</a:t>
            </a:r>
            <a:endParaRPr/>
          </a:p>
        </p:txBody>
      </p:sp>
      <p:sp>
        <p:nvSpPr>
          <p:cNvPr id="219" name="Google Shape;21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6.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6.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6.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7.jp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image" Target="../media/image7.png"/><Relationship Id="rId7"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6.jpg"/><Relationship Id="rId4" Type="http://schemas.openxmlformats.org/officeDocument/2006/relationships/image" Target="../media/image5.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5.jp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4.png"/><Relationship Id="rId7"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jp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 name="Google Shape;17;p1"/>
          <p:cNvSpPr/>
          <p:nvPr/>
        </p:nvSpPr>
        <p:spPr>
          <a:xfrm>
            <a:off x="0" y="842097"/>
            <a:ext cx="9144000" cy="557213"/>
          </a:xfrm>
          <a:prstGeom prst="rect">
            <a:avLst/>
          </a:prstGeom>
          <a:noFill/>
          <a:ln>
            <a:noFill/>
          </a:ln>
        </p:spPr>
        <p:txBody>
          <a:bodyPr anchorCtr="0" anchor="t" bIns="0" lIns="0" spcFirstLastPara="1" rIns="0" wrap="square" tIns="0">
            <a:spAutoFit/>
          </a:bodyPr>
          <a:lstStyle/>
          <a:p>
            <a:pPr indent="0" lvl="0" marL="0" marR="0" rtl="0" algn="ctr">
              <a:lnSpc>
                <a:spcPct val="130580"/>
              </a:lnSpc>
              <a:spcBef>
                <a:spcPts val="0"/>
              </a:spcBef>
              <a:spcAft>
                <a:spcPts val="0"/>
              </a:spcAft>
              <a:buClr>
                <a:srgbClr val="2D3748"/>
              </a:buClr>
              <a:buSzPts val="3293"/>
              <a:buFont typeface="Montserrat"/>
              <a:buNone/>
            </a:pPr>
            <a:r>
              <a:rPr b="1" i="0" lang="en-US" sz="3293" u="none" cap="none" strike="noStrike">
                <a:solidFill>
                  <a:srgbClr val="2D3748"/>
                </a:solidFill>
                <a:latin typeface="Montserrat"/>
                <a:ea typeface="Montserrat"/>
                <a:cs typeface="Montserrat"/>
                <a:sym typeface="Montserrat"/>
              </a:rPr>
              <a:t>LES GAFAM</a:t>
            </a:r>
            <a:endParaRPr b="0" i="0" sz="3293" u="none" cap="none" strike="noStrike">
              <a:solidFill>
                <a:schemeClr val="dk1"/>
              </a:solidFill>
              <a:latin typeface="Calibri"/>
              <a:ea typeface="Calibri"/>
              <a:cs typeface="Calibri"/>
              <a:sym typeface="Calibri"/>
            </a:endParaRPr>
          </a:p>
        </p:txBody>
      </p:sp>
      <p:sp>
        <p:nvSpPr>
          <p:cNvPr id="18" name="Google Shape;18;p1"/>
          <p:cNvSpPr/>
          <p:nvPr/>
        </p:nvSpPr>
        <p:spPr>
          <a:xfrm>
            <a:off x="0" y="1470747"/>
            <a:ext cx="9144000" cy="242888"/>
          </a:xfrm>
          <a:prstGeom prst="rect">
            <a:avLst/>
          </a:prstGeom>
          <a:noFill/>
          <a:ln>
            <a:noFill/>
          </a:ln>
        </p:spPr>
        <p:txBody>
          <a:bodyPr anchorCtr="0" anchor="t" bIns="0" lIns="0" spcFirstLastPara="1" rIns="0" wrap="square" tIns="0">
            <a:spAutoFit/>
          </a:bodyPr>
          <a:lstStyle/>
          <a:p>
            <a:pPr indent="0" lvl="0" marL="0" marR="0" rtl="0" algn="ctr">
              <a:lnSpc>
                <a:spcPct val="136005"/>
              </a:lnSpc>
              <a:spcBef>
                <a:spcPts val="0"/>
              </a:spcBef>
              <a:spcAft>
                <a:spcPts val="0"/>
              </a:spcAft>
              <a:buClr>
                <a:srgbClr val="3182CE"/>
              </a:buClr>
              <a:buSzPts val="1397"/>
              <a:buFont typeface="Inter"/>
              <a:buNone/>
            </a:pPr>
            <a:r>
              <a:rPr b="1" i="0" lang="en-US" sz="1397" u="none" cap="none" strike="noStrike">
                <a:solidFill>
                  <a:srgbClr val="3182CE"/>
                </a:solidFill>
                <a:latin typeface="Inter"/>
                <a:ea typeface="Inter"/>
                <a:cs typeface="Inter"/>
                <a:sym typeface="Inter"/>
              </a:rPr>
              <a:t>Enjeux et Problématiques du Numérique Global</a:t>
            </a:r>
            <a:endParaRPr b="0" i="0" sz="1397" u="none" cap="none" strike="noStrike">
              <a:solidFill>
                <a:schemeClr val="dk1"/>
              </a:solidFill>
              <a:latin typeface="Calibri"/>
              <a:ea typeface="Calibri"/>
              <a:cs typeface="Calibri"/>
              <a:sym typeface="Calibri"/>
            </a:endParaRPr>
          </a:p>
        </p:txBody>
      </p:sp>
      <p:sp>
        <p:nvSpPr>
          <p:cNvPr id="19" name="Google Shape;19;p1"/>
          <p:cNvSpPr/>
          <p:nvPr/>
        </p:nvSpPr>
        <p:spPr>
          <a:xfrm>
            <a:off x="714375" y="2285135"/>
            <a:ext cx="3750469" cy="4947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714375" y="2285135"/>
            <a:ext cx="35719" cy="494705"/>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857250" y="2428010"/>
            <a:ext cx="185738"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E2E8F0"/>
              </a:buClr>
              <a:buSzPts val="1193"/>
              <a:buFont typeface="Montserrat"/>
              <a:buNone/>
            </a:pPr>
            <a:r>
              <a:rPr b="1" i="0" lang="en-US" sz="1193" u="none" cap="none" strike="noStrike">
                <a:solidFill>
                  <a:schemeClr val="accent3"/>
                </a:solidFill>
                <a:latin typeface="Montserrat"/>
                <a:ea typeface="Montserrat"/>
                <a:cs typeface="Montserrat"/>
                <a:sym typeface="Montserrat"/>
              </a:rPr>
              <a:t>01</a:t>
            </a:r>
            <a:endParaRPr b="0" i="0" sz="1193" u="none" cap="none" strike="noStrike">
              <a:solidFill>
                <a:schemeClr val="accent3"/>
              </a:solidFill>
              <a:latin typeface="Calibri"/>
              <a:ea typeface="Calibri"/>
              <a:cs typeface="Calibri"/>
              <a:sym typeface="Calibri"/>
            </a:endParaRPr>
          </a:p>
        </p:txBody>
      </p:sp>
      <p:sp>
        <p:nvSpPr>
          <p:cNvPr id="22" name="Google Shape;22;p1"/>
          <p:cNvSpPr/>
          <p:nvPr/>
        </p:nvSpPr>
        <p:spPr>
          <a:xfrm>
            <a:off x="1185863" y="2454799"/>
            <a:ext cx="2607469"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A5568"/>
              </a:buClr>
              <a:buSzPts val="885"/>
              <a:buFont typeface="Inter"/>
              <a:buNone/>
            </a:pPr>
            <a:r>
              <a:rPr b="1" i="0" lang="en-US" sz="885" u="none" cap="none" strike="noStrike">
                <a:solidFill>
                  <a:srgbClr val="4A5568"/>
                </a:solidFill>
                <a:latin typeface="Inter"/>
                <a:ea typeface="Inter"/>
                <a:cs typeface="Inter"/>
                <a:sym typeface="Inter"/>
              </a:rPr>
              <a:t>Repères historiques et évolution mondiale</a:t>
            </a:r>
            <a:endParaRPr b="0" i="0" sz="885" u="none" cap="none" strike="noStrike">
              <a:solidFill>
                <a:schemeClr val="dk1"/>
              </a:solidFill>
              <a:latin typeface="Calibri"/>
              <a:ea typeface="Calibri"/>
              <a:cs typeface="Calibri"/>
              <a:sym typeface="Calibri"/>
            </a:endParaRPr>
          </a:p>
        </p:txBody>
      </p:sp>
      <p:sp>
        <p:nvSpPr>
          <p:cNvPr id="23" name="Google Shape;23;p1"/>
          <p:cNvSpPr/>
          <p:nvPr/>
        </p:nvSpPr>
        <p:spPr>
          <a:xfrm>
            <a:off x="4679156" y="2285135"/>
            <a:ext cx="3750469" cy="4947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4679156" y="2285135"/>
            <a:ext cx="35719" cy="494705"/>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4822031" y="2428010"/>
            <a:ext cx="219670"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E2E8F0"/>
              </a:buClr>
              <a:buSzPts val="1193"/>
              <a:buFont typeface="Montserrat"/>
              <a:buNone/>
            </a:pPr>
            <a:r>
              <a:rPr b="1" i="0" lang="en-US" sz="1193" u="none" cap="none" strike="noStrike">
                <a:solidFill>
                  <a:schemeClr val="accent3"/>
                </a:solidFill>
                <a:latin typeface="Montserrat"/>
                <a:ea typeface="Montserrat"/>
                <a:cs typeface="Montserrat"/>
                <a:sym typeface="Montserrat"/>
              </a:rPr>
              <a:t>02</a:t>
            </a:r>
            <a:endParaRPr b="0" i="0" sz="1193" u="none" cap="none" strike="noStrike">
              <a:solidFill>
                <a:schemeClr val="accent3"/>
              </a:solidFill>
              <a:latin typeface="Calibri"/>
              <a:ea typeface="Calibri"/>
              <a:cs typeface="Calibri"/>
              <a:sym typeface="Calibri"/>
            </a:endParaRPr>
          </a:p>
        </p:txBody>
      </p:sp>
      <p:sp>
        <p:nvSpPr>
          <p:cNvPr id="26" name="Google Shape;26;p1"/>
          <p:cNvSpPr/>
          <p:nvPr/>
        </p:nvSpPr>
        <p:spPr>
          <a:xfrm>
            <a:off x="5184577" y="2454799"/>
            <a:ext cx="3059311"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A5568"/>
              </a:buClr>
              <a:buSzPts val="885"/>
              <a:buFont typeface="Inter"/>
              <a:buNone/>
            </a:pPr>
            <a:r>
              <a:rPr b="1" i="0" lang="en-US" sz="885" u="none" cap="none" strike="noStrike">
                <a:solidFill>
                  <a:srgbClr val="4A5568"/>
                </a:solidFill>
                <a:latin typeface="Inter"/>
                <a:ea typeface="Inter"/>
                <a:cs typeface="Inter"/>
                <a:sym typeface="Inter"/>
              </a:rPr>
              <a:t>Modèles économiques et économie de l'attention</a:t>
            </a:r>
            <a:endParaRPr b="0" i="0" sz="885" u="none" cap="none" strike="noStrike">
              <a:solidFill>
                <a:schemeClr val="dk1"/>
              </a:solidFill>
              <a:latin typeface="Calibri"/>
              <a:ea typeface="Calibri"/>
              <a:cs typeface="Calibri"/>
              <a:sym typeface="Calibri"/>
            </a:endParaRPr>
          </a:p>
        </p:txBody>
      </p:sp>
      <p:sp>
        <p:nvSpPr>
          <p:cNvPr id="27" name="Google Shape;27;p1"/>
          <p:cNvSpPr/>
          <p:nvPr/>
        </p:nvSpPr>
        <p:spPr>
          <a:xfrm>
            <a:off x="714375" y="2994152"/>
            <a:ext cx="3750469" cy="4947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714375" y="2994152"/>
            <a:ext cx="35719" cy="494705"/>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857250" y="3137027"/>
            <a:ext cx="219670"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E2E8F0"/>
              </a:buClr>
              <a:buSzPts val="1193"/>
              <a:buFont typeface="Montserrat"/>
              <a:buNone/>
            </a:pPr>
            <a:r>
              <a:rPr b="1" i="0" lang="en-US" sz="1193" u="none" cap="none" strike="noStrike">
                <a:solidFill>
                  <a:schemeClr val="accent3"/>
                </a:solidFill>
                <a:latin typeface="Montserrat"/>
                <a:ea typeface="Montserrat"/>
                <a:cs typeface="Montserrat"/>
                <a:sym typeface="Montserrat"/>
              </a:rPr>
              <a:t>03</a:t>
            </a:r>
            <a:endParaRPr b="0" i="0" sz="1193" u="none" cap="none" strike="noStrike">
              <a:solidFill>
                <a:schemeClr val="accent3"/>
              </a:solidFill>
              <a:latin typeface="Calibri"/>
              <a:ea typeface="Calibri"/>
              <a:cs typeface="Calibri"/>
              <a:sym typeface="Calibri"/>
            </a:endParaRPr>
          </a:p>
        </p:txBody>
      </p:sp>
      <p:sp>
        <p:nvSpPr>
          <p:cNvPr id="30" name="Google Shape;30;p1"/>
          <p:cNvSpPr/>
          <p:nvPr/>
        </p:nvSpPr>
        <p:spPr>
          <a:xfrm>
            <a:off x="1219795" y="3163816"/>
            <a:ext cx="2891433"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A5568"/>
              </a:buClr>
              <a:buSzPts val="885"/>
              <a:buFont typeface="Inter"/>
              <a:buNone/>
            </a:pPr>
            <a:r>
              <a:rPr b="1" i="0" lang="en-US" sz="885" u="none" cap="none" strike="noStrike">
                <a:solidFill>
                  <a:srgbClr val="4A5568"/>
                </a:solidFill>
                <a:latin typeface="Inter"/>
                <a:ea typeface="Inter"/>
                <a:cs typeface="Inter"/>
                <a:sym typeface="Inter"/>
              </a:rPr>
              <a:t>Problématiques : Centralisation et Algorithmes</a:t>
            </a:r>
            <a:endParaRPr b="0" i="0" sz="885" u="none" cap="none" strike="noStrike">
              <a:solidFill>
                <a:schemeClr val="dk1"/>
              </a:solidFill>
              <a:latin typeface="Calibri"/>
              <a:ea typeface="Calibri"/>
              <a:cs typeface="Calibri"/>
              <a:sym typeface="Calibri"/>
            </a:endParaRPr>
          </a:p>
        </p:txBody>
      </p:sp>
      <p:sp>
        <p:nvSpPr>
          <p:cNvPr id="31" name="Google Shape;31;p1"/>
          <p:cNvSpPr/>
          <p:nvPr/>
        </p:nvSpPr>
        <p:spPr>
          <a:xfrm>
            <a:off x="4679156" y="2994152"/>
            <a:ext cx="3750469" cy="4947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p:nvPr/>
        </p:nvSpPr>
        <p:spPr>
          <a:xfrm>
            <a:off x="4679156" y="2994152"/>
            <a:ext cx="35719" cy="494705"/>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4822031" y="3137027"/>
            <a:ext cx="237530"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E2E8F0"/>
              </a:buClr>
              <a:buSzPts val="1193"/>
              <a:buFont typeface="Montserrat"/>
              <a:buNone/>
            </a:pPr>
            <a:r>
              <a:rPr b="1" i="0" lang="en-US" sz="1193" u="none" cap="none" strike="noStrike">
                <a:solidFill>
                  <a:schemeClr val="accent3"/>
                </a:solidFill>
                <a:latin typeface="Montserrat"/>
                <a:ea typeface="Montserrat"/>
                <a:cs typeface="Montserrat"/>
                <a:sym typeface="Montserrat"/>
              </a:rPr>
              <a:t>04</a:t>
            </a:r>
            <a:endParaRPr b="0" i="0" sz="1193" u="none" cap="none" strike="noStrike">
              <a:solidFill>
                <a:schemeClr val="accent3"/>
              </a:solidFill>
              <a:latin typeface="Calibri"/>
              <a:ea typeface="Calibri"/>
              <a:cs typeface="Calibri"/>
              <a:sym typeface="Calibri"/>
            </a:endParaRPr>
          </a:p>
        </p:txBody>
      </p:sp>
      <p:sp>
        <p:nvSpPr>
          <p:cNvPr id="34" name="Google Shape;34;p1"/>
          <p:cNvSpPr/>
          <p:nvPr/>
        </p:nvSpPr>
        <p:spPr>
          <a:xfrm>
            <a:off x="5202436" y="3163816"/>
            <a:ext cx="2753916"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A5568"/>
              </a:buClr>
              <a:buSzPts val="885"/>
              <a:buFont typeface="Inter"/>
              <a:buNone/>
            </a:pPr>
            <a:r>
              <a:rPr b="1" i="0" lang="en-US" sz="885" u="none" cap="none" strike="noStrike">
                <a:solidFill>
                  <a:srgbClr val="4A5568"/>
                </a:solidFill>
                <a:latin typeface="Inter"/>
                <a:ea typeface="Inter"/>
                <a:cs typeface="Inter"/>
                <a:sym typeface="Inter"/>
              </a:rPr>
              <a:t>Désinformation et Protection de la vie privée</a:t>
            </a:r>
            <a:endParaRPr b="0" i="0" sz="885" u="none" cap="none" strike="noStrike">
              <a:solidFill>
                <a:schemeClr val="dk1"/>
              </a:solidFill>
              <a:latin typeface="Calibri"/>
              <a:ea typeface="Calibri"/>
              <a:cs typeface="Calibri"/>
              <a:sym typeface="Calibri"/>
            </a:endParaRPr>
          </a:p>
        </p:txBody>
      </p:sp>
      <p:sp>
        <p:nvSpPr>
          <p:cNvPr id="35" name="Google Shape;35;p1"/>
          <p:cNvSpPr/>
          <p:nvPr/>
        </p:nvSpPr>
        <p:spPr>
          <a:xfrm>
            <a:off x="714375" y="3703169"/>
            <a:ext cx="3750469" cy="4947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
          <p:cNvSpPr/>
          <p:nvPr/>
        </p:nvSpPr>
        <p:spPr>
          <a:xfrm>
            <a:off x="714375" y="3703169"/>
            <a:ext cx="35719" cy="494705"/>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
          <p:cNvSpPr/>
          <p:nvPr/>
        </p:nvSpPr>
        <p:spPr>
          <a:xfrm>
            <a:off x="857250" y="3846044"/>
            <a:ext cx="221456"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E2E8F0"/>
              </a:buClr>
              <a:buSzPts val="1193"/>
              <a:buFont typeface="Montserrat"/>
              <a:buNone/>
            </a:pPr>
            <a:r>
              <a:rPr b="1" i="0" lang="en-US" sz="1193" u="none" cap="none" strike="noStrike">
                <a:solidFill>
                  <a:schemeClr val="accent3"/>
                </a:solidFill>
                <a:latin typeface="Montserrat"/>
                <a:ea typeface="Montserrat"/>
                <a:cs typeface="Montserrat"/>
                <a:sym typeface="Montserrat"/>
              </a:rPr>
              <a:t>05</a:t>
            </a:r>
            <a:endParaRPr b="0" i="0" sz="1193" u="none" cap="none" strike="noStrike">
              <a:solidFill>
                <a:schemeClr val="accent3"/>
              </a:solidFill>
              <a:latin typeface="Calibri"/>
              <a:ea typeface="Calibri"/>
              <a:cs typeface="Calibri"/>
              <a:sym typeface="Calibri"/>
            </a:endParaRPr>
          </a:p>
        </p:txBody>
      </p:sp>
      <p:sp>
        <p:nvSpPr>
          <p:cNvPr id="38" name="Google Shape;38;p1"/>
          <p:cNvSpPr/>
          <p:nvPr/>
        </p:nvSpPr>
        <p:spPr>
          <a:xfrm>
            <a:off x="1221581" y="3872833"/>
            <a:ext cx="2539603"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A5568"/>
              </a:buClr>
              <a:buSzPts val="885"/>
              <a:buFont typeface="Inter"/>
              <a:buNone/>
            </a:pPr>
            <a:r>
              <a:rPr b="1" i="0" lang="en-US" sz="885" u="none" cap="none" strike="noStrike">
                <a:solidFill>
                  <a:srgbClr val="4A5568"/>
                </a:solidFill>
                <a:latin typeface="Inter"/>
                <a:ea typeface="Inter"/>
                <a:cs typeface="Inter"/>
                <a:sym typeface="Inter"/>
              </a:rPr>
              <a:t>Souveraineté, Fiscalité et Environnement</a:t>
            </a:r>
            <a:endParaRPr b="0" i="0" sz="885" u="none" cap="none" strike="noStrike">
              <a:solidFill>
                <a:schemeClr val="dk1"/>
              </a:solidFill>
              <a:latin typeface="Calibri"/>
              <a:ea typeface="Calibri"/>
              <a:cs typeface="Calibri"/>
              <a:sym typeface="Calibri"/>
            </a:endParaRPr>
          </a:p>
        </p:txBody>
      </p:sp>
      <p:sp>
        <p:nvSpPr>
          <p:cNvPr id="39" name="Google Shape;39;p1"/>
          <p:cNvSpPr/>
          <p:nvPr/>
        </p:nvSpPr>
        <p:spPr>
          <a:xfrm>
            <a:off x="4679156" y="3703169"/>
            <a:ext cx="3750469" cy="4947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
          <p:cNvSpPr/>
          <p:nvPr/>
        </p:nvSpPr>
        <p:spPr>
          <a:xfrm>
            <a:off x="4679156" y="3703169"/>
            <a:ext cx="35719" cy="494705"/>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
          <p:cNvSpPr/>
          <p:nvPr/>
        </p:nvSpPr>
        <p:spPr>
          <a:xfrm>
            <a:off x="4822031" y="3846044"/>
            <a:ext cx="228600"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E2E8F0"/>
              </a:buClr>
              <a:buSzPts val="1193"/>
              <a:buFont typeface="Montserrat"/>
              <a:buNone/>
            </a:pPr>
            <a:r>
              <a:rPr b="1" i="0" lang="en-US" sz="1193" u="none" cap="none" strike="noStrike">
                <a:solidFill>
                  <a:schemeClr val="accent3"/>
                </a:solidFill>
                <a:latin typeface="Montserrat"/>
                <a:ea typeface="Montserrat"/>
                <a:cs typeface="Montserrat"/>
                <a:sym typeface="Montserrat"/>
              </a:rPr>
              <a:t>06</a:t>
            </a:r>
            <a:endParaRPr b="0" i="0" sz="1193" u="none" cap="none" strike="noStrike">
              <a:solidFill>
                <a:schemeClr val="accent3"/>
              </a:solidFill>
              <a:latin typeface="Calibri"/>
              <a:ea typeface="Calibri"/>
              <a:cs typeface="Calibri"/>
              <a:sym typeface="Calibri"/>
            </a:endParaRPr>
          </a:p>
        </p:txBody>
      </p:sp>
      <p:sp>
        <p:nvSpPr>
          <p:cNvPr id="42" name="Google Shape;42;p1"/>
          <p:cNvSpPr/>
          <p:nvPr/>
        </p:nvSpPr>
        <p:spPr>
          <a:xfrm>
            <a:off x="5193506" y="3872833"/>
            <a:ext cx="2902148"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A5568"/>
              </a:buClr>
              <a:buSzPts val="885"/>
              <a:buFont typeface="Inter"/>
              <a:buNone/>
            </a:pPr>
            <a:r>
              <a:rPr b="1" i="0" lang="en-US" sz="885" u="none" cap="none" strike="noStrike">
                <a:solidFill>
                  <a:srgbClr val="4A5568"/>
                </a:solidFill>
                <a:latin typeface="Inter"/>
                <a:ea typeface="Inter"/>
                <a:cs typeface="Inter"/>
                <a:sym typeface="Inter"/>
              </a:rPr>
              <a:t>Métiers, Formations et Conclusion personnelle</a:t>
            </a:r>
            <a:endParaRPr b="0" i="0" sz="885" u="none" cap="none" strike="noStrike">
              <a:solidFill>
                <a:schemeClr val="dk1"/>
              </a:solidFill>
              <a:latin typeface="Calibri"/>
              <a:ea typeface="Calibri"/>
              <a:cs typeface="Calibri"/>
              <a:sym typeface="Calibri"/>
            </a:endParaRPr>
          </a:p>
        </p:txBody>
      </p:sp>
      <p:sp>
        <p:nvSpPr>
          <p:cNvPr id="43" name="Google Shape;43;p1"/>
          <p:cNvSpPr/>
          <p:nvPr/>
        </p:nvSpPr>
        <p:spPr>
          <a:xfrm>
            <a:off x="77225" y="4988099"/>
            <a:ext cx="9144000" cy="155400"/>
          </a:xfrm>
          <a:prstGeom prst="rect">
            <a:avLst/>
          </a:prstGeom>
          <a:noFill/>
          <a:ln>
            <a:noFill/>
          </a:ln>
        </p:spPr>
        <p:txBody>
          <a:bodyPr anchorCtr="0" anchor="t" bIns="0" lIns="0" spcFirstLastPara="1" rIns="0" wrap="square" tIns="0">
            <a:noAutofit/>
          </a:bodyPr>
          <a:lstStyle/>
          <a:p>
            <a:pPr indent="0" lvl="0" marL="0" marR="0" rtl="0" algn="ctr">
              <a:lnSpc>
                <a:spcPct val="136005"/>
              </a:lnSpc>
              <a:spcBef>
                <a:spcPts val="0"/>
              </a:spcBef>
              <a:spcAft>
                <a:spcPts val="0"/>
              </a:spcAft>
              <a:buClr>
                <a:srgbClr val="3182CE"/>
              </a:buClr>
              <a:buSzPts val="1397"/>
              <a:buFont typeface="Inter"/>
              <a:buNone/>
            </a:pPr>
            <a:r>
              <a:rPr b="1" lang="en-US" sz="797">
                <a:solidFill>
                  <a:srgbClr val="3182CE"/>
                </a:solidFill>
                <a:latin typeface="Inter"/>
                <a:ea typeface="Inter"/>
                <a:cs typeface="Inter"/>
                <a:sym typeface="Inter"/>
              </a:rPr>
              <a:t>Tom MONCADA &amp; Maxime MONTHÉ</a:t>
            </a:r>
            <a:endParaRPr b="0" i="0" sz="797"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pic>
        <p:nvPicPr>
          <p:cNvPr descr="preencoded.png" id="49" name="Google Shape;49;p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0" name="Google Shape;50;p2"/>
          <p:cNvSpPr/>
          <p:nvPr/>
        </p:nvSpPr>
        <p:spPr>
          <a:xfrm>
            <a:off x="714375" y="428625"/>
            <a:ext cx="6543675" cy="466130"/>
          </a:xfrm>
          <a:prstGeom prst="rect">
            <a:avLst/>
          </a:prstGeom>
          <a:noFill/>
          <a:ln>
            <a:noFill/>
          </a:ln>
        </p:spPr>
        <p:txBody>
          <a:bodyPr anchorCtr="0" anchor="t" bIns="85075" lIns="0" spcFirstLastPara="1" rIns="0" wrap="square" tIns="0">
            <a:spAutoFit/>
          </a:bodyPr>
          <a:lstStyle/>
          <a:p>
            <a:pPr indent="0" lvl="0" marL="0" marR="0" rtl="0" algn="l">
              <a:lnSpc>
                <a:spcPct val="132013"/>
              </a:lnSpc>
              <a:spcBef>
                <a:spcPts val="0"/>
              </a:spcBef>
              <a:spcAft>
                <a:spcPts val="0"/>
              </a:spcAft>
              <a:buClr>
                <a:srgbClr val="1A202C"/>
              </a:buClr>
              <a:buSzPts val="2121"/>
              <a:buFont typeface="Montserrat"/>
              <a:buNone/>
            </a:pPr>
            <a:r>
              <a:rPr b="1" i="0" lang="en-US" sz="2121" u="none" cap="none" strike="noStrike">
                <a:solidFill>
                  <a:srgbClr val="1A202C"/>
                </a:solidFill>
                <a:latin typeface="Montserrat"/>
                <a:ea typeface="Montserrat"/>
                <a:cs typeface="Montserrat"/>
                <a:sym typeface="Montserrat"/>
              </a:rPr>
              <a:t>01. REPÈRES HISTORIQUES : L'ÉVOLUTION</a:t>
            </a:r>
            <a:endParaRPr b="0" i="0" sz="2121" u="none" cap="none" strike="noStrike">
              <a:solidFill>
                <a:schemeClr val="dk1"/>
              </a:solidFill>
              <a:latin typeface="Calibri"/>
              <a:ea typeface="Calibri"/>
              <a:cs typeface="Calibri"/>
              <a:sym typeface="Calibri"/>
            </a:endParaRPr>
          </a:p>
        </p:txBody>
      </p:sp>
      <p:sp>
        <p:nvSpPr>
          <p:cNvPr id="51" name="Google Shape;51;p2"/>
          <p:cNvSpPr/>
          <p:nvPr/>
        </p:nvSpPr>
        <p:spPr>
          <a:xfrm>
            <a:off x="714375" y="1323380"/>
            <a:ext cx="371475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1975 - 1976 : MICROSOFT &amp; APPLE</a:t>
            </a:r>
            <a:endParaRPr b="0" i="0" sz="1193" u="none" cap="none" strike="noStrike">
              <a:solidFill>
                <a:schemeClr val="dk1"/>
              </a:solidFill>
              <a:latin typeface="Calibri"/>
              <a:ea typeface="Calibri"/>
              <a:cs typeface="Calibri"/>
              <a:sym typeface="Calibri"/>
            </a:endParaRPr>
          </a:p>
        </p:txBody>
      </p:sp>
      <p:sp>
        <p:nvSpPr>
          <p:cNvPr id="52" name="Google Shape;52;p2"/>
          <p:cNvSpPr/>
          <p:nvPr/>
        </p:nvSpPr>
        <p:spPr>
          <a:xfrm>
            <a:off x="714375" y="1616273"/>
            <a:ext cx="371475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L'informatique personnelle entre dans les foyers mondiaux.</a:t>
            </a:r>
            <a:endParaRPr b="0" i="0" sz="1050" u="none" cap="none" strike="noStrike">
              <a:solidFill>
                <a:schemeClr val="dk1"/>
              </a:solidFill>
              <a:latin typeface="Calibri"/>
              <a:ea typeface="Calibri"/>
              <a:cs typeface="Calibri"/>
              <a:sym typeface="Calibri"/>
            </a:endParaRPr>
          </a:p>
        </p:txBody>
      </p:sp>
      <p:sp>
        <p:nvSpPr>
          <p:cNvPr id="53" name="Google Shape;53;p2"/>
          <p:cNvSpPr/>
          <p:nvPr/>
        </p:nvSpPr>
        <p:spPr>
          <a:xfrm>
            <a:off x="714375" y="2330648"/>
            <a:ext cx="371475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1994 - 1998 : AMAZON &amp; GOOGLE</a:t>
            </a:r>
            <a:endParaRPr b="0" i="0" sz="1193" u="none" cap="none" strike="noStrike">
              <a:solidFill>
                <a:schemeClr val="dk1"/>
              </a:solidFill>
              <a:latin typeface="Calibri"/>
              <a:ea typeface="Calibri"/>
              <a:cs typeface="Calibri"/>
              <a:sym typeface="Calibri"/>
            </a:endParaRPr>
          </a:p>
        </p:txBody>
      </p:sp>
      <p:sp>
        <p:nvSpPr>
          <p:cNvPr id="54" name="Google Shape;54;p2"/>
          <p:cNvSpPr/>
          <p:nvPr/>
        </p:nvSpPr>
        <p:spPr>
          <a:xfrm>
            <a:off x="714375" y="2623542"/>
            <a:ext cx="371475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Révolution de l'e-commerce et de l'accès à l'information universelle.</a:t>
            </a:r>
            <a:endParaRPr b="0" i="0" sz="1050" u="none" cap="none" strike="noStrike">
              <a:solidFill>
                <a:schemeClr val="dk1"/>
              </a:solidFill>
              <a:latin typeface="Calibri"/>
              <a:ea typeface="Calibri"/>
              <a:cs typeface="Calibri"/>
              <a:sym typeface="Calibri"/>
            </a:endParaRPr>
          </a:p>
        </p:txBody>
      </p:sp>
      <p:sp>
        <p:nvSpPr>
          <p:cNvPr id="55" name="Google Shape;55;p2"/>
          <p:cNvSpPr/>
          <p:nvPr/>
        </p:nvSpPr>
        <p:spPr>
          <a:xfrm>
            <a:off x="714375" y="3337917"/>
            <a:ext cx="371475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2004 - 2007 : FACEBOOK &amp; IPHONE</a:t>
            </a:r>
            <a:endParaRPr b="0" i="0" sz="1193" u="none" cap="none" strike="noStrike">
              <a:solidFill>
                <a:schemeClr val="dk1"/>
              </a:solidFill>
              <a:latin typeface="Calibri"/>
              <a:ea typeface="Calibri"/>
              <a:cs typeface="Calibri"/>
              <a:sym typeface="Calibri"/>
            </a:endParaRPr>
          </a:p>
        </p:txBody>
      </p:sp>
      <p:sp>
        <p:nvSpPr>
          <p:cNvPr id="56" name="Google Shape;56;p2"/>
          <p:cNvSpPr/>
          <p:nvPr/>
        </p:nvSpPr>
        <p:spPr>
          <a:xfrm>
            <a:off x="714375" y="3630811"/>
            <a:ext cx="371475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Naissance des réseaux sociaux et de l'Internet mobile omniprésent.</a:t>
            </a:r>
            <a:endParaRPr b="0" i="0" sz="1050" u="none" cap="none" strike="noStrike">
              <a:solidFill>
                <a:schemeClr val="dk1"/>
              </a:solidFill>
              <a:latin typeface="Calibri"/>
              <a:ea typeface="Calibri"/>
              <a:cs typeface="Calibri"/>
              <a:sym typeface="Calibri"/>
            </a:endParaRPr>
          </a:p>
        </p:txBody>
      </p:sp>
      <p:sp>
        <p:nvSpPr>
          <p:cNvPr id="57" name="Google Shape;57;p2"/>
          <p:cNvSpPr/>
          <p:nvPr/>
        </p:nvSpPr>
        <p:spPr>
          <a:xfrm>
            <a:off x="4857750" y="1323380"/>
            <a:ext cx="3714750" cy="3021806"/>
          </a:xfrm>
          <a:prstGeom prst="rect">
            <a:avLst/>
          </a:prstGeom>
          <a:solidFill>
            <a:srgbClr val="F7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4857750" y="1323380"/>
            <a:ext cx="3714750" cy="57150"/>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143500" y="2252793"/>
            <a:ext cx="3143250" cy="121444"/>
          </a:xfrm>
          <a:prstGeom prst="rect">
            <a:avLst/>
          </a:prstGeom>
          <a:noFill/>
          <a:ln>
            <a:noFill/>
          </a:ln>
        </p:spPr>
        <p:txBody>
          <a:bodyPr anchorCtr="0" anchor="t" bIns="0" lIns="0" spcFirstLastPara="1" rIns="0" wrap="square" tIns="0">
            <a:spAutoFit/>
          </a:bodyPr>
          <a:lstStyle/>
          <a:p>
            <a:pPr indent="0" lvl="0" marL="0" marR="0" rtl="0" algn="ctr">
              <a:lnSpc>
                <a:spcPct val="131771"/>
              </a:lnSpc>
              <a:spcBef>
                <a:spcPts val="0"/>
              </a:spcBef>
              <a:spcAft>
                <a:spcPts val="0"/>
              </a:spcAft>
              <a:buClr>
                <a:srgbClr val="718096"/>
              </a:buClr>
              <a:buSzPts val="683"/>
              <a:buFont typeface="Inter"/>
              <a:buNone/>
            </a:pPr>
            <a:r>
              <a:rPr b="1" i="0" lang="en-US" sz="683" u="none" cap="none" strike="noStrike">
                <a:solidFill>
                  <a:srgbClr val="718096"/>
                </a:solidFill>
                <a:latin typeface="Inter"/>
                <a:ea typeface="Inter"/>
                <a:cs typeface="Inter"/>
                <a:sym typeface="Inter"/>
              </a:rPr>
              <a:t>ANALYSE HISTORIQUE</a:t>
            </a:r>
            <a:endParaRPr b="0" i="0" sz="683" u="none" cap="none" strike="noStrike">
              <a:solidFill>
                <a:schemeClr val="dk1"/>
              </a:solidFill>
              <a:latin typeface="Calibri"/>
              <a:ea typeface="Calibri"/>
              <a:cs typeface="Calibri"/>
              <a:sym typeface="Calibri"/>
            </a:endParaRPr>
          </a:p>
        </p:txBody>
      </p:sp>
      <p:sp>
        <p:nvSpPr>
          <p:cNvPr id="60" name="Google Shape;60;p2"/>
          <p:cNvSpPr/>
          <p:nvPr/>
        </p:nvSpPr>
        <p:spPr>
          <a:xfrm>
            <a:off x="5143500" y="2517111"/>
            <a:ext cx="3143250" cy="612884"/>
          </a:xfrm>
          <a:prstGeom prst="rect">
            <a:avLst/>
          </a:prstGeom>
          <a:noFill/>
          <a:ln>
            <a:noFill/>
          </a:ln>
        </p:spPr>
        <p:txBody>
          <a:bodyPr anchorCtr="0" anchor="t" bIns="0" lIns="0" spcFirstLastPara="1" rIns="0" wrap="square" tIns="0">
            <a:spAutoFit/>
          </a:bodyPr>
          <a:lstStyle/>
          <a:p>
            <a:pPr indent="0" lvl="0" marL="0" marR="0" rtl="0" algn="ctr">
              <a:lnSpc>
                <a:spcPct val="146788"/>
              </a:lnSpc>
              <a:spcBef>
                <a:spcPts val="0"/>
              </a:spcBef>
              <a:spcAft>
                <a:spcPts val="0"/>
              </a:spcAft>
              <a:buClr>
                <a:srgbClr val="2D3748"/>
              </a:buClr>
              <a:buSzPts val="1090"/>
              <a:buFont typeface="Inter"/>
              <a:buNone/>
            </a:pPr>
            <a:r>
              <a:rPr b="1" i="0" lang="en-US" sz="1090" u="none" cap="none" strike="noStrike">
                <a:solidFill>
                  <a:srgbClr val="2D3748"/>
                </a:solidFill>
                <a:latin typeface="Inter"/>
                <a:ea typeface="Inter"/>
                <a:cs typeface="Inter"/>
                <a:sym typeface="Inter"/>
              </a:rPr>
              <a:t>En moins de 50 ans, ces entreprises sont passées de </a:t>
            </a:r>
            <a:r>
              <a:rPr b="1" i="0" lang="en-US" sz="1090" u="none" cap="none" strike="noStrike">
                <a:solidFill>
                  <a:srgbClr val="3182CE"/>
                </a:solidFill>
                <a:latin typeface="Inter"/>
                <a:ea typeface="Inter"/>
                <a:cs typeface="Inter"/>
                <a:sym typeface="Inter"/>
              </a:rPr>
              <a:t>startups de garage</a:t>
            </a:r>
            <a:r>
              <a:rPr b="1" i="0" lang="en-US" sz="1090" u="none" cap="none" strike="noStrike">
                <a:solidFill>
                  <a:srgbClr val="2D3748"/>
                </a:solidFill>
                <a:latin typeface="Inter"/>
                <a:ea typeface="Inter"/>
                <a:cs typeface="Inter"/>
                <a:sym typeface="Inter"/>
              </a:rPr>
              <a:t> à des puissances mondiales hégémoniques.</a:t>
            </a:r>
            <a:endParaRPr b="0" i="0" sz="109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descr="preencoded.png" id="66" name="Google Shape;66;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7" name="Google Shape;67;p3"/>
          <p:cNvSpPr/>
          <p:nvPr/>
        </p:nvSpPr>
        <p:spPr>
          <a:xfrm>
            <a:off x="714375" y="428625"/>
            <a:ext cx="4622006" cy="466130"/>
          </a:xfrm>
          <a:prstGeom prst="rect">
            <a:avLst/>
          </a:prstGeom>
          <a:noFill/>
          <a:ln>
            <a:noFill/>
          </a:ln>
        </p:spPr>
        <p:txBody>
          <a:bodyPr anchorCtr="0" anchor="t" bIns="85075" lIns="0" spcFirstLastPara="1" rIns="0" wrap="square" tIns="0">
            <a:spAutoFit/>
          </a:bodyPr>
          <a:lstStyle/>
          <a:p>
            <a:pPr indent="0" lvl="0" marL="0" marR="0" rtl="0" algn="l">
              <a:lnSpc>
                <a:spcPct val="132013"/>
              </a:lnSpc>
              <a:spcBef>
                <a:spcPts val="0"/>
              </a:spcBef>
              <a:spcAft>
                <a:spcPts val="0"/>
              </a:spcAft>
              <a:buClr>
                <a:srgbClr val="1A202C"/>
              </a:buClr>
              <a:buSzPts val="2121"/>
              <a:buFont typeface="Montserrat"/>
              <a:buNone/>
            </a:pPr>
            <a:r>
              <a:rPr b="1" i="0" lang="en-US" sz="2121" u="none" cap="none" strike="noStrike">
                <a:solidFill>
                  <a:srgbClr val="1A202C"/>
                </a:solidFill>
                <a:latin typeface="Montserrat"/>
                <a:ea typeface="Montserrat"/>
                <a:cs typeface="Montserrat"/>
                <a:sym typeface="Montserrat"/>
              </a:rPr>
              <a:t>02. MODÈLES ÉCONOMIQUES</a:t>
            </a:r>
            <a:endParaRPr b="0" i="0" sz="2121" u="none" cap="none" strike="noStrike">
              <a:solidFill>
                <a:schemeClr val="dk1"/>
              </a:solidFill>
              <a:latin typeface="Calibri"/>
              <a:ea typeface="Calibri"/>
              <a:cs typeface="Calibri"/>
              <a:sym typeface="Calibri"/>
            </a:endParaRPr>
          </a:p>
        </p:txBody>
      </p:sp>
      <p:sp>
        <p:nvSpPr>
          <p:cNvPr id="68" name="Google Shape;68;p3"/>
          <p:cNvSpPr/>
          <p:nvPr/>
        </p:nvSpPr>
        <p:spPr>
          <a:xfrm>
            <a:off x="714375" y="1323380"/>
            <a:ext cx="445770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VALORISATION DE LA DONNÉE</a:t>
            </a:r>
            <a:endParaRPr b="0" i="0" sz="1193" u="none" cap="none" strike="noStrike">
              <a:solidFill>
                <a:schemeClr val="dk1"/>
              </a:solidFill>
              <a:latin typeface="Calibri"/>
              <a:ea typeface="Calibri"/>
              <a:cs typeface="Calibri"/>
              <a:sym typeface="Calibri"/>
            </a:endParaRPr>
          </a:p>
        </p:txBody>
      </p:sp>
      <p:sp>
        <p:nvSpPr>
          <p:cNvPr id="69" name="Google Shape;69;p3"/>
          <p:cNvSpPr/>
          <p:nvPr/>
        </p:nvSpPr>
        <p:spPr>
          <a:xfrm>
            <a:off x="714375" y="1616273"/>
            <a:ext cx="445770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Modèle publicitaire (Google, Meta) où la donnée est la ressource principale.</a:t>
            </a:r>
            <a:endParaRPr b="0" i="0" sz="1050" u="none" cap="none" strike="noStrike">
              <a:solidFill>
                <a:schemeClr val="dk1"/>
              </a:solidFill>
              <a:latin typeface="Calibri"/>
              <a:ea typeface="Calibri"/>
              <a:cs typeface="Calibri"/>
              <a:sym typeface="Calibri"/>
            </a:endParaRPr>
          </a:p>
        </p:txBody>
      </p:sp>
      <p:sp>
        <p:nvSpPr>
          <p:cNvPr id="70" name="Google Shape;70;p3"/>
          <p:cNvSpPr/>
          <p:nvPr/>
        </p:nvSpPr>
        <p:spPr>
          <a:xfrm>
            <a:off x="714375" y="2330648"/>
            <a:ext cx="445770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ÉCOSYSTÈMES ET SERVICES</a:t>
            </a:r>
            <a:endParaRPr b="0" i="0" sz="1193" u="none" cap="none" strike="noStrike">
              <a:solidFill>
                <a:schemeClr val="dk1"/>
              </a:solidFill>
              <a:latin typeface="Calibri"/>
              <a:ea typeface="Calibri"/>
              <a:cs typeface="Calibri"/>
              <a:sym typeface="Calibri"/>
            </a:endParaRPr>
          </a:p>
        </p:txBody>
      </p:sp>
      <p:sp>
        <p:nvSpPr>
          <p:cNvPr id="71" name="Google Shape;71;p3"/>
          <p:cNvSpPr/>
          <p:nvPr/>
        </p:nvSpPr>
        <p:spPr>
          <a:xfrm>
            <a:off x="714375" y="2623542"/>
            <a:ext cx="4457700" cy="214313"/>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Verrouillage et fidélisation des utilisateurs (Apple, Microsoft).</a:t>
            </a:r>
            <a:endParaRPr b="0" i="0" sz="1050" u="none" cap="none" strike="noStrike">
              <a:solidFill>
                <a:schemeClr val="dk1"/>
              </a:solidFill>
              <a:latin typeface="Calibri"/>
              <a:ea typeface="Calibri"/>
              <a:cs typeface="Calibri"/>
              <a:sym typeface="Calibri"/>
            </a:endParaRPr>
          </a:p>
        </p:txBody>
      </p:sp>
      <p:sp>
        <p:nvSpPr>
          <p:cNvPr id="72" name="Google Shape;72;p3"/>
          <p:cNvSpPr/>
          <p:nvPr/>
        </p:nvSpPr>
        <p:spPr>
          <a:xfrm>
            <a:off x="714375" y="3123605"/>
            <a:ext cx="445770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INFRASTRUCTURES ET CLOUD</a:t>
            </a:r>
            <a:endParaRPr b="0" i="0" sz="1193" u="none" cap="none" strike="noStrike">
              <a:solidFill>
                <a:schemeClr val="dk1"/>
              </a:solidFill>
              <a:latin typeface="Calibri"/>
              <a:ea typeface="Calibri"/>
              <a:cs typeface="Calibri"/>
              <a:sym typeface="Calibri"/>
            </a:endParaRPr>
          </a:p>
        </p:txBody>
      </p:sp>
      <p:sp>
        <p:nvSpPr>
          <p:cNvPr id="73" name="Google Shape;73;p3"/>
          <p:cNvSpPr/>
          <p:nvPr/>
        </p:nvSpPr>
        <p:spPr>
          <a:xfrm>
            <a:off x="714375" y="3416498"/>
            <a:ext cx="445770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Domination des infrastructures numériques mondiales (Amazon, Microsoft).</a:t>
            </a:r>
            <a:endParaRPr b="0" i="0" sz="1050" u="none" cap="none" strike="noStrike">
              <a:solidFill>
                <a:schemeClr val="dk1"/>
              </a:solidFill>
              <a:latin typeface="Calibri"/>
              <a:ea typeface="Calibri"/>
              <a:cs typeface="Calibri"/>
              <a:sym typeface="Calibri"/>
            </a:endParaRPr>
          </a:p>
        </p:txBody>
      </p:sp>
      <p:sp>
        <p:nvSpPr>
          <p:cNvPr id="74" name="Google Shape;74;p3"/>
          <p:cNvSpPr/>
          <p:nvPr/>
        </p:nvSpPr>
        <p:spPr>
          <a:xfrm>
            <a:off x="5600700" y="1323380"/>
            <a:ext cx="2971800" cy="2807494"/>
          </a:xfrm>
          <a:prstGeom prst="rect">
            <a:avLst/>
          </a:prstGeom>
          <a:solidFill>
            <a:srgbClr val="ED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5600700" y="1323380"/>
            <a:ext cx="2971800" cy="57150"/>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5957888" y="2131712"/>
            <a:ext cx="2257425" cy="822927"/>
          </a:xfrm>
          <a:prstGeom prst="rect">
            <a:avLst/>
          </a:prstGeom>
          <a:noFill/>
          <a:ln>
            <a:noFill/>
          </a:ln>
        </p:spPr>
        <p:txBody>
          <a:bodyPr anchorCtr="0" anchor="t" bIns="0" lIns="0" spcFirstLastPara="1" rIns="0" wrap="square" tIns="0">
            <a:spAutoFit/>
          </a:bodyPr>
          <a:lstStyle/>
          <a:p>
            <a:pPr indent="0" lvl="0" marL="0" marR="0" rtl="0" algn="ctr">
              <a:lnSpc>
                <a:spcPct val="137328"/>
              </a:lnSpc>
              <a:spcBef>
                <a:spcPts val="0"/>
              </a:spcBef>
              <a:spcAft>
                <a:spcPts val="0"/>
              </a:spcAft>
              <a:buClr>
                <a:srgbClr val="2D3748"/>
              </a:buClr>
              <a:buSzPts val="1602"/>
              <a:buFont typeface="Inter"/>
              <a:buNone/>
            </a:pPr>
            <a:r>
              <a:rPr b="1" i="0" lang="en-US" sz="1602" u="none" cap="none" strike="noStrike">
                <a:solidFill>
                  <a:srgbClr val="2D3748"/>
                </a:solidFill>
                <a:latin typeface="Inter"/>
                <a:ea typeface="Inter"/>
                <a:cs typeface="Inter"/>
                <a:sym typeface="Inter"/>
              </a:rPr>
              <a:t>"Si c'est gratuit, c'est que </a:t>
            </a:r>
            <a:r>
              <a:rPr b="1" i="0" lang="en-US" sz="1602" u="none" cap="none" strike="noStrike">
                <a:solidFill>
                  <a:srgbClr val="3182CE"/>
                </a:solidFill>
                <a:latin typeface="Inter"/>
                <a:ea typeface="Inter"/>
                <a:cs typeface="Inter"/>
                <a:sym typeface="Inter"/>
              </a:rPr>
              <a:t>vous</a:t>
            </a:r>
            <a:r>
              <a:rPr b="1" i="0" lang="en-US" sz="1602" u="none" cap="none" strike="noStrike">
                <a:solidFill>
                  <a:srgbClr val="2D3748"/>
                </a:solidFill>
                <a:latin typeface="Inter"/>
                <a:ea typeface="Inter"/>
                <a:cs typeface="Inter"/>
                <a:sym typeface="Inter"/>
              </a:rPr>
              <a:t> êtes le produit."</a:t>
            </a:r>
            <a:endParaRPr b="0" i="0" sz="1602"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descr="preencoded.png" id="82" name="Google Shape;82;p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3" name="Google Shape;83;p4"/>
          <p:cNvSpPr/>
          <p:nvPr/>
        </p:nvSpPr>
        <p:spPr>
          <a:xfrm>
            <a:off x="714375" y="428625"/>
            <a:ext cx="6186488" cy="466130"/>
          </a:xfrm>
          <a:prstGeom prst="rect">
            <a:avLst/>
          </a:prstGeom>
          <a:noFill/>
          <a:ln>
            <a:noFill/>
          </a:ln>
        </p:spPr>
        <p:txBody>
          <a:bodyPr anchorCtr="0" anchor="t" bIns="85075" lIns="0" spcFirstLastPara="1" rIns="0" wrap="square" tIns="0">
            <a:spAutoFit/>
          </a:bodyPr>
          <a:lstStyle/>
          <a:p>
            <a:pPr indent="0" lvl="0" marL="0" marR="0" rtl="0" algn="l">
              <a:lnSpc>
                <a:spcPct val="132013"/>
              </a:lnSpc>
              <a:spcBef>
                <a:spcPts val="0"/>
              </a:spcBef>
              <a:spcAft>
                <a:spcPts val="0"/>
              </a:spcAft>
              <a:buClr>
                <a:srgbClr val="1A202C"/>
              </a:buClr>
              <a:buSzPts val="2121"/>
              <a:buFont typeface="Montserrat"/>
              <a:buNone/>
            </a:pPr>
            <a:r>
              <a:rPr b="1" i="0" lang="en-US" sz="2121" u="none" cap="none" strike="noStrike">
                <a:solidFill>
                  <a:srgbClr val="1A202C"/>
                </a:solidFill>
                <a:latin typeface="Montserrat"/>
                <a:ea typeface="Montserrat"/>
                <a:cs typeface="Montserrat"/>
                <a:sym typeface="Montserrat"/>
              </a:rPr>
              <a:t>03. CENTRALISATION ET ALGORITHMES</a:t>
            </a:r>
            <a:endParaRPr b="0" i="0" sz="2121" u="none" cap="none" strike="noStrike">
              <a:solidFill>
                <a:schemeClr val="dk1"/>
              </a:solidFill>
              <a:latin typeface="Calibri"/>
              <a:ea typeface="Calibri"/>
              <a:cs typeface="Calibri"/>
              <a:sym typeface="Calibri"/>
            </a:endParaRPr>
          </a:p>
        </p:txBody>
      </p:sp>
      <p:sp>
        <p:nvSpPr>
          <p:cNvPr id="84" name="Google Shape;84;p4"/>
          <p:cNvSpPr/>
          <p:nvPr/>
        </p:nvSpPr>
        <p:spPr>
          <a:xfrm>
            <a:off x="714375" y="1323380"/>
            <a:ext cx="371475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CENTRALISATION DU WEB</a:t>
            </a:r>
            <a:endParaRPr b="0" i="0" sz="1193" u="none" cap="none" strike="noStrike">
              <a:solidFill>
                <a:schemeClr val="dk1"/>
              </a:solidFill>
              <a:latin typeface="Calibri"/>
              <a:ea typeface="Calibri"/>
              <a:cs typeface="Calibri"/>
              <a:sym typeface="Calibri"/>
            </a:endParaRPr>
          </a:p>
        </p:txBody>
      </p:sp>
      <p:sp>
        <p:nvSpPr>
          <p:cNvPr id="85" name="Google Shape;85;p4"/>
          <p:cNvSpPr/>
          <p:nvPr/>
        </p:nvSpPr>
        <p:spPr>
          <a:xfrm>
            <a:off x="714375" y="1616273"/>
            <a:ext cx="371475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Dépendance critique envers quelques infrastructures mondiales (Cloud, OS).</a:t>
            </a:r>
            <a:endParaRPr b="0" i="0" sz="1050" u="none" cap="none" strike="noStrike">
              <a:solidFill>
                <a:schemeClr val="dk1"/>
              </a:solidFill>
              <a:latin typeface="Calibri"/>
              <a:ea typeface="Calibri"/>
              <a:cs typeface="Calibri"/>
              <a:sym typeface="Calibri"/>
            </a:endParaRPr>
          </a:p>
        </p:txBody>
      </p:sp>
      <p:sp>
        <p:nvSpPr>
          <p:cNvPr id="86" name="Google Shape;86;p4"/>
          <p:cNvSpPr/>
          <p:nvPr/>
        </p:nvSpPr>
        <p:spPr>
          <a:xfrm>
            <a:off x="714375" y="2330648"/>
            <a:ext cx="371475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OPACITÉ ALGORITHMIQUE</a:t>
            </a:r>
            <a:endParaRPr b="0" i="0" sz="1193" u="none" cap="none" strike="noStrike">
              <a:solidFill>
                <a:schemeClr val="dk1"/>
              </a:solidFill>
              <a:latin typeface="Calibri"/>
              <a:ea typeface="Calibri"/>
              <a:cs typeface="Calibri"/>
              <a:sym typeface="Calibri"/>
            </a:endParaRPr>
          </a:p>
        </p:txBody>
      </p:sp>
      <p:sp>
        <p:nvSpPr>
          <p:cNvPr id="87" name="Google Shape;87;p4"/>
          <p:cNvSpPr/>
          <p:nvPr/>
        </p:nvSpPr>
        <p:spPr>
          <a:xfrm>
            <a:off x="714375" y="2623542"/>
            <a:ext cx="371475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Des "boîtes noires" qui influencent nos choix, nos achats et nos opinions politiques.</a:t>
            </a:r>
            <a:endParaRPr b="0" i="0" sz="1050" u="none" cap="none" strike="noStrike">
              <a:solidFill>
                <a:schemeClr val="dk1"/>
              </a:solidFill>
              <a:latin typeface="Calibri"/>
              <a:ea typeface="Calibri"/>
              <a:cs typeface="Calibri"/>
              <a:sym typeface="Calibri"/>
            </a:endParaRPr>
          </a:p>
        </p:txBody>
      </p:sp>
      <p:sp>
        <p:nvSpPr>
          <p:cNvPr id="88" name="Google Shape;88;p4"/>
          <p:cNvSpPr/>
          <p:nvPr/>
        </p:nvSpPr>
        <p:spPr>
          <a:xfrm>
            <a:off x="714375" y="3337917"/>
            <a:ext cx="371475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BULLES DE FILTRES</a:t>
            </a:r>
            <a:endParaRPr b="0" i="0" sz="1193" u="none" cap="none" strike="noStrike">
              <a:solidFill>
                <a:schemeClr val="dk1"/>
              </a:solidFill>
              <a:latin typeface="Calibri"/>
              <a:ea typeface="Calibri"/>
              <a:cs typeface="Calibri"/>
              <a:sym typeface="Calibri"/>
            </a:endParaRPr>
          </a:p>
        </p:txBody>
      </p:sp>
      <p:sp>
        <p:nvSpPr>
          <p:cNvPr id="89" name="Google Shape;89;p4"/>
          <p:cNvSpPr/>
          <p:nvPr/>
        </p:nvSpPr>
        <p:spPr>
          <a:xfrm>
            <a:off x="714375" y="3630811"/>
            <a:ext cx="371475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Risque d'enfermement cognitif et polarisation de la société par la personnalisation extrême.</a:t>
            </a:r>
            <a:endParaRPr b="0" i="0" sz="1050" u="none" cap="none" strike="noStrike">
              <a:solidFill>
                <a:schemeClr val="dk1"/>
              </a:solidFill>
              <a:latin typeface="Calibri"/>
              <a:ea typeface="Calibri"/>
              <a:cs typeface="Calibri"/>
              <a:sym typeface="Calibri"/>
            </a:endParaRPr>
          </a:p>
        </p:txBody>
      </p:sp>
      <p:sp>
        <p:nvSpPr>
          <p:cNvPr id="90" name="Google Shape;90;p4"/>
          <p:cNvSpPr/>
          <p:nvPr/>
        </p:nvSpPr>
        <p:spPr>
          <a:xfrm>
            <a:off x="4857750" y="1323380"/>
            <a:ext cx="3714750" cy="3255764"/>
          </a:xfrm>
          <a:prstGeom prst="rect">
            <a:avLst/>
          </a:prstGeom>
          <a:solidFill>
            <a:srgbClr val="F7FAFC"/>
          </a:solidFill>
          <a:ln cap="flat" cmpd="sng" w="1827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5214938" y="1680567"/>
            <a:ext cx="3000375" cy="121444"/>
          </a:xfrm>
          <a:prstGeom prst="rect">
            <a:avLst/>
          </a:prstGeom>
          <a:noFill/>
          <a:ln>
            <a:noFill/>
          </a:ln>
        </p:spPr>
        <p:txBody>
          <a:bodyPr anchorCtr="0" anchor="t" bIns="0" lIns="0" spcFirstLastPara="1" rIns="0" wrap="square" tIns="0">
            <a:spAutoFit/>
          </a:bodyPr>
          <a:lstStyle/>
          <a:p>
            <a:pPr indent="0" lvl="0" marL="0" marR="0" rtl="0" algn="ctr">
              <a:lnSpc>
                <a:spcPct val="131771"/>
              </a:lnSpc>
              <a:spcBef>
                <a:spcPts val="0"/>
              </a:spcBef>
              <a:spcAft>
                <a:spcPts val="0"/>
              </a:spcAft>
              <a:buClr>
                <a:srgbClr val="718096"/>
              </a:buClr>
              <a:buSzPts val="683"/>
              <a:buFont typeface="Inter"/>
              <a:buNone/>
            </a:pPr>
            <a:r>
              <a:rPr b="1" i="0" lang="en-US" sz="683" u="none" cap="none" strike="noStrike">
                <a:solidFill>
                  <a:srgbClr val="718096"/>
                </a:solidFill>
                <a:latin typeface="Inter"/>
                <a:ea typeface="Inter"/>
                <a:cs typeface="Inter"/>
                <a:sym typeface="Inter"/>
              </a:rPr>
              <a:t>MÉCANISME D'INFLUENCE</a:t>
            </a:r>
            <a:endParaRPr b="0" i="0" sz="683" u="none" cap="none" strike="noStrike">
              <a:solidFill>
                <a:schemeClr val="dk1"/>
              </a:solidFill>
              <a:latin typeface="Calibri"/>
              <a:ea typeface="Calibri"/>
              <a:cs typeface="Calibri"/>
              <a:sym typeface="Calibri"/>
            </a:endParaRPr>
          </a:p>
        </p:txBody>
      </p:sp>
      <p:sp>
        <p:nvSpPr>
          <p:cNvPr id="92" name="Google Shape;92;p4"/>
          <p:cNvSpPr/>
          <p:nvPr/>
        </p:nvSpPr>
        <p:spPr>
          <a:xfrm>
            <a:off x="5214938" y="2016323"/>
            <a:ext cx="3000375" cy="383977"/>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5214938" y="2016323"/>
            <a:ext cx="3000375" cy="383977"/>
          </a:xfrm>
          <a:prstGeom prst="rect">
            <a:avLst/>
          </a:prstGeom>
          <a:noFill/>
          <a:ln>
            <a:noFill/>
          </a:ln>
        </p:spPr>
        <p:txBody>
          <a:bodyPr anchorCtr="0" anchor="t" bIns="127500" lIns="127500" spcFirstLastPara="1" rIns="127500" wrap="square" tIns="127500">
            <a:spAutoFit/>
          </a:bodyPr>
          <a:lstStyle/>
          <a:p>
            <a:pPr indent="0" lvl="0" marL="0" marR="0" rtl="0" algn="ctr">
              <a:lnSpc>
                <a:spcPct val="135593"/>
              </a:lnSpc>
              <a:spcBef>
                <a:spcPts val="0"/>
              </a:spcBef>
              <a:spcAft>
                <a:spcPts val="0"/>
              </a:spcAft>
              <a:buClr>
                <a:srgbClr val="2D3748"/>
              </a:buClr>
              <a:buSzPts val="885"/>
              <a:buFont typeface="Inter"/>
              <a:buNone/>
            </a:pPr>
            <a:r>
              <a:rPr b="1" i="0" lang="en-US" sz="885" u="none" cap="none" strike="noStrike">
                <a:solidFill>
                  <a:srgbClr val="2D3748"/>
                </a:solidFill>
                <a:latin typeface="Inter"/>
                <a:ea typeface="Inter"/>
                <a:cs typeface="Inter"/>
                <a:sym typeface="Inter"/>
              </a:rPr>
              <a:t>Données Utilisateur</a:t>
            </a:r>
            <a:endParaRPr b="0" i="0" sz="885" u="none" cap="none" strike="noStrike">
              <a:solidFill>
                <a:schemeClr val="dk1"/>
              </a:solidFill>
              <a:latin typeface="Calibri"/>
              <a:ea typeface="Calibri"/>
              <a:cs typeface="Calibri"/>
              <a:sym typeface="Calibri"/>
            </a:endParaRPr>
          </a:p>
        </p:txBody>
      </p:sp>
      <p:pic>
        <p:nvPicPr>
          <p:cNvPr descr="preencoded.png" id="94" name="Google Shape;94;p4"/>
          <p:cNvPicPr preferRelativeResize="0"/>
          <p:nvPr/>
        </p:nvPicPr>
        <p:blipFill rotWithShape="1">
          <a:blip r:embed="rId4">
            <a:alphaModFix/>
          </a:blip>
          <a:srcRect b="0" l="0" r="0" t="0"/>
          <a:stretch/>
        </p:blipFill>
        <p:spPr>
          <a:xfrm>
            <a:off x="6652617" y="2471738"/>
            <a:ext cx="125016" cy="142875"/>
          </a:xfrm>
          <a:prstGeom prst="rect">
            <a:avLst/>
          </a:prstGeom>
          <a:noFill/>
          <a:ln>
            <a:noFill/>
          </a:ln>
        </p:spPr>
      </p:pic>
      <p:sp>
        <p:nvSpPr>
          <p:cNvPr id="95" name="Google Shape;95;p4"/>
          <p:cNvSpPr/>
          <p:nvPr/>
        </p:nvSpPr>
        <p:spPr>
          <a:xfrm>
            <a:off x="5214938" y="2702123"/>
            <a:ext cx="3000375" cy="369689"/>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5214938" y="2702123"/>
            <a:ext cx="3000375" cy="369689"/>
          </a:xfrm>
          <a:prstGeom prst="rect">
            <a:avLst/>
          </a:prstGeom>
          <a:noFill/>
          <a:ln>
            <a:noFill/>
          </a:ln>
        </p:spPr>
        <p:txBody>
          <a:bodyPr anchorCtr="0" anchor="t" bIns="127500" lIns="127500" spcFirstLastPara="1" rIns="127500" wrap="square" tIns="127500">
            <a:spAutoFit/>
          </a:bodyPr>
          <a:lstStyle/>
          <a:p>
            <a:pPr indent="0" lvl="0" marL="0" marR="0" rtl="0" algn="ctr">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Algorithme Opaque</a:t>
            </a:r>
            <a:endParaRPr b="0" i="0" sz="885" u="none" cap="none" strike="noStrike">
              <a:solidFill>
                <a:schemeClr val="dk1"/>
              </a:solidFill>
              <a:latin typeface="Calibri"/>
              <a:ea typeface="Calibri"/>
              <a:cs typeface="Calibri"/>
              <a:sym typeface="Calibri"/>
            </a:endParaRPr>
          </a:p>
        </p:txBody>
      </p:sp>
      <p:pic>
        <p:nvPicPr>
          <p:cNvPr descr="preencoded.png" id="97" name="Google Shape;97;p4"/>
          <p:cNvPicPr preferRelativeResize="0"/>
          <p:nvPr/>
        </p:nvPicPr>
        <p:blipFill rotWithShape="1">
          <a:blip r:embed="rId4">
            <a:alphaModFix/>
          </a:blip>
          <a:srcRect b="0" l="0" r="0" t="0"/>
          <a:stretch/>
        </p:blipFill>
        <p:spPr>
          <a:xfrm>
            <a:off x="6652617" y="3157538"/>
            <a:ext cx="125016" cy="142875"/>
          </a:xfrm>
          <a:prstGeom prst="rect">
            <a:avLst/>
          </a:prstGeom>
          <a:noFill/>
          <a:ln>
            <a:noFill/>
          </a:ln>
        </p:spPr>
      </p:pic>
      <p:sp>
        <p:nvSpPr>
          <p:cNvPr id="98" name="Google Shape;98;p4"/>
          <p:cNvSpPr/>
          <p:nvPr/>
        </p:nvSpPr>
        <p:spPr>
          <a:xfrm>
            <a:off x="5214938" y="3387923"/>
            <a:ext cx="3000375" cy="383977"/>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5214938" y="3387923"/>
            <a:ext cx="3000375" cy="383977"/>
          </a:xfrm>
          <a:prstGeom prst="rect">
            <a:avLst/>
          </a:prstGeom>
          <a:noFill/>
          <a:ln>
            <a:noFill/>
          </a:ln>
        </p:spPr>
        <p:txBody>
          <a:bodyPr anchorCtr="0" anchor="t" bIns="127500" lIns="127500" spcFirstLastPara="1" rIns="127500" wrap="square" tIns="127500">
            <a:spAutoFit/>
          </a:bodyPr>
          <a:lstStyle/>
          <a:p>
            <a:pPr indent="0" lvl="0" marL="0" marR="0" rtl="0" algn="ctr">
              <a:lnSpc>
                <a:spcPct val="135593"/>
              </a:lnSpc>
              <a:spcBef>
                <a:spcPts val="0"/>
              </a:spcBef>
              <a:spcAft>
                <a:spcPts val="0"/>
              </a:spcAft>
              <a:buClr>
                <a:srgbClr val="2D3748"/>
              </a:buClr>
              <a:buSzPts val="885"/>
              <a:buFont typeface="Inter"/>
              <a:buNone/>
            </a:pPr>
            <a:r>
              <a:rPr b="1" i="0" lang="en-US" sz="885" u="none" cap="none" strike="noStrike">
                <a:solidFill>
                  <a:srgbClr val="2D3748"/>
                </a:solidFill>
                <a:latin typeface="Inter"/>
                <a:ea typeface="Inter"/>
                <a:cs typeface="Inter"/>
                <a:sym typeface="Inter"/>
              </a:rPr>
              <a:t>Vision du Monde Personnalisée</a:t>
            </a:r>
            <a:endParaRPr b="0" i="0" sz="885" u="none" cap="none" strike="noStrike">
              <a:solidFill>
                <a:schemeClr val="dk1"/>
              </a:solidFill>
              <a:latin typeface="Calibri"/>
              <a:ea typeface="Calibri"/>
              <a:cs typeface="Calibri"/>
              <a:sym typeface="Calibri"/>
            </a:endParaRPr>
          </a:p>
        </p:txBody>
      </p:sp>
      <p:sp>
        <p:nvSpPr>
          <p:cNvPr id="100" name="Google Shape;100;p4"/>
          <p:cNvSpPr/>
          <p:nvPr/>
        </p:nvSpPr>
        <p:spPr>
          <a:xfrm>
            <a:off x="5214938" y="4043363"/>
            <a:ext cx="3000375" cy="121444"/>
          </a:xfrm>
          <a:prstGeom prst="rect">
            <a:avLst/>
          </a:prstGeom>
          <a:noFill/>
          <a:ln>
            <a:noFill/>
          </a:ln>
        </p:spPr>
        <p:txBody>
          <a:bodyPr anchorCtr="0" anchor="t" bIns="0" lIns="0" spcFirstLastPara="1" rIns="0" wrap="square" tIns="0">
            <a:spAutoFit/>
          </a:bodyPr>
          <a:lstStyle/>
          <a:p>
            <a:pPr indent="0" lvl="0" marL="0" marR="0" rtl="0" algn="ctr">
              <a:lnSpc>
                <a:spcPct val="123796"/>
              </a:lnSpc>
              <a:spcBef>
                <a:spcPts val="0"/>
              </a:spcBef>
              <a:spcAft>
                <a:spcPts val="0"/>
              </a:spcAft>
              <a:buClr>
                <a:srgbClr val="718096"/>
              </a:buClr>
              <a:buSzPts val="727"/>
              <a:buFont typeface="Inter"/>
              <a:buNone/>
            </a:pPr>
            <a:r>
              <a:rPr b="0" i="1" lang="en-US" sz="727" u="none" cap="none" strike="noStrike">
                <a:solidFill>
                  <a:srgbClr val="718096"/>
                </a:solidFill>
                <a:latin typeface="Inter"/>
                <a:ea typeface="Inter"/>
                <a:cs typeface="Inter"/>
                <a:sym typeface="Inter"/>
              </a:rPr>
              <a:t>Impact direct sur la diversité de l'information.</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descr="preencoded.png" id="106" name="Google Shape;106;p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7" name="Google Shape;107;p5"/>
          <p:cNvSpPr/>
          <p:nvPr/>
        </p:nvSpPr>
        <p:spPr>
          <a:xfrm>
            <a:off x="714375" y="428625"/>
            <a:ext cx="5823942" cy="466130"/>
          </a:xfrm>
          <a:prstGeom prst="rect">
            <a:avLst/>
          </a:prstGeom>
          <a:noFill/>
          <a:ln>
            <a:noFill/>
          </a:ln>
        </p:spPr>
        <p:txBody>
          <a:bodyPr anchorCtr="0" anchor="t" bIns="85075" lIns="0" spcFirstLastPara="1" rIns="0" wrap="square" tIns="0">
            <a:spAutoFit/>
          </a:bodyPr>
          <a:lstStyle/>
          <a:p>
            <a:pPr indent="0" lvl="0" marL="0" marR="0" rtl="0" algn="l">
              <a:lnSpc>
                <a:spcPct val="132013"/>
              </a:lnSpc>
              <a:spcBef>
                <a:spcPts val="0"/>
              </a:spcBef>
              <a:spcAft>
                <a:spcPts val="0"/>
              </a:spcAft>
              <a:buClr>
                <a:srgbClr val="1A202C"/>
              </a:buClr>
              <a:buSzPts val="2121"/>
              <a:buFont typeface="Montserrat"/>
              <a:buNone/>
            </a:pPr>
            <a:r>
              <a:rPr b="1" i="0" lang="en-US" sz="2121" u="none" cap="none" strike="noStrike">
                <a:solidFill>
                  <a:srgbClr val="1A202C"/>
                </a:solidFill>
                <a:latin typeface="Montserrat"/>
                <a:ea typeface="Montserrat"/>
                <a:cs typeface="Montserrat"/>
                <a:sym typeface="Montserrat"/>
              </a:rPr>
              <a:t>04. DÉSINFORMATION ET VIE PRIVÉE</a:t>
            </a:r>
            <a:endParaRPr b="0" i="0" sz="2121" u="none" cap="none" strike="noStrike">
              <a:solidFill>
                <a:schemeClr val="dk1"/>
              </a:solidFill>
              <a:latin typeface="Calibri"/>
              <a:ea typeface="Calibri"/>
              <a:cs typeface="Calibri"/>
              <a:sym typeface="Calibri"/>
            </a:endParaRPr>
          </a:p>
        </p:txBody>
      </p:sp>
      <p:sp>
        <p:nvSpPr>
          <p:cNvPr id="108" name="Google Shape;108;p5"/>
          <p:cNvSpPr/>
          <p:nvPr/>
        </p:nvSpPr>
        <p:spPr>
          <a:xfrm>
            <a:off x="714375" y="1323380"/>
            <a:ext cx="371475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VIRALITÉ DES FAKE NEWS</a:t>
            </a:r>
            <a:endParaRPr b="0" i="0" sz="1193" u="none" cap="none" strike="noStrike">
              <a:solidFill>
                <a:schemeClr val="dk1"/>
              </a:solidFill>
              <a:latin typeface="Calibri"/>
              <a:ea typeface="Calibri"/>
              <a:cs typeface="Calibri"/>
              <a:sym typeface="Calibri"/>
            </a:endParaRPr>
          </a:p>
        </p:txBody>
      </p:sp>
      <p:sp>
        <p:nvSpPr>
          <p:cNvPr id="109" name="Google Shape;109;p5"/>
          <p:cNvSpPr/>
          <p:nvPr/>
        </p:nvSpPr>
        <p:spPr>
          <a:xfrm>
            <a:off x="714375" y="1616273"/>
            <a:ext cx="371475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Les algorithmes privilégient l'engagement émotionnel, facilitant la propagation de fausses informations.</a:t>
            </a:r>
            <a:endParaRPr b="0" i="0" sz="1050" u="none" cap="none" strike="noStrike">
              <a:solidFill>
                <a:schemeClr val="dk1"/>
              </a:solidFill>
              <a:latin typeface="Calibri"/>
              <a:ea typeface="Calibri"/>
              <a:cs typeface="Calibri"/>
              <a:sym typeface="Calibri"/>
            </a:endParaRPr>
          </a:p>
        </p:txBody>
      </p:sp>
      <p:sp>
        <p:nvSpPr>
          <p:cNvPr id="110" name="Google Shape;110;p5"/>
          <p:cNvSpPr/>
          <p:nvPr/>
        </p:nvSpPr>
        <p:spPr>
          <a:xfrm>
            <a:off x="714375" y="2330648"/>
            <a:ext cx="371475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COLLECTE MASSIVE</a:t>
            </a:r>
            <a:endParaRPr b="0" i="0" sz="1193" u="none" cap="none" strike="noStrike">
              <a:solidFill>
                <a:schemeClr val="dk1"/>
              </a:solidFill>
              <a:latin typeface="Calibri"/>
              <a:ea typeface="Calibri"/>
              <a:cs typeface="Calibri"/>
              <a:sym typeface="Calibri"/>
            </a:endParaRPr>
          </a:p>
        </p:txBody>
      </p:sp>
      <p:sp>
        <p:nvSpPr>
          <p:cNvPr id="111" name="Google Shape;111;p5"/>
          <p:cNvSpPr/>
          <p:nvPr/>
        </p:nvSpPr>
        <p:spPr>
          <a:xfrm>
            <a:off x="714375" y="2623542"/>
            <a:ext cx="371475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Aspiration systématique des données personnelles pour alimenter le ciblage publicitaire.</a:t>
            </a:r>
            <a:endParaRPr b="0" i="0" sz="1050" u="none" cap="none" strike="noStrike">
              <a:solidFill>
                <a:schemeClr val="dk1"/>
              </a:solidFill>
              <a:latin typeface="Calibri"/>
              <a:ea typeface="Calibri"/>
              <a:cs typeface="Calibri"/>
              <a:sym typeface="Calibri"/>
            </a:endParaRPr>
          </a:p>
        </p:txBody>
      </p:sp>
      <p:sp>
        <p:nvSpPr>
          <p:cNvPr id="112" name="Google Shape;112;p5"/>
          <p:cNvSpPr/>
          <p:nvPr/>
        </p:nvSpPr>
        <p:spPr>
          <a:xfrm>
            <a:off x="714375" y="3337917"/>
            <a:ext cx="371475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CAPITALISME DE SURVEILLANCE</a:t>
            </a:r>
            <a:endParaRPr b="0" i="0" sz="1193" u="none" cap="none" strike="noStrike">
              <a:solidFill>
                <a:schemeClr val="dk1"/>
              </a:solidFill>
              <a:latin typeface="Calibri"/>
              <a:ea typeface="Calibri"/>
              <a:cs typeface="Calibri"/>
              <a:sym typeface="Calibri"/>
            </a:endParaRPr>
          </a:p>
        </p:txBody>
      </p:sp>
      <p:sp>
        <p:nvSpPr>
          <p:cNvPr id="113" name="Google Shape;113;p5"/>
          <p:cNvSpPr/>
          <p:nvPr/>
        </p:nvSpPr>
        <p:spPr>
          <a:xfrm>
            <a:off x="714375" y="3630811"/>
            <a:ext cx="371475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Transformation de nos comportements en ligne en ressources commerciales valorisées.</a:t>
            </a:r>
            <a:endParaRPr b="0" i="0" sz="1050" u="none" cap="none" strike="noStrike">
              <a:solidFill>
                <a:schemeClr val="dk1"/>
              </a:solidFill>
              <a:latin typeface="Calibri"/>
              <a:ea typeface="Calibri"/>
              <a:cs typeface="Calibri"/>
              <a:sym typeface="Calibri"/>
            </a:endParaRPr>
          </a:p>
        </p:txBody>
      </p:sp>
      <p:sp>
        <p:nvSpPr>
          <p:cNvPr id="114" name="Google Shape;114;p5"/>
          <p:cNvSpPr/>
          <p:nvPr/>
        </p:nvSpPr>
        <p:spPr>
          <a:xfrm>
            <a:off x="4857750" y="1323380"/>
            <a:ext cx="3714750" cy="3021806"/>
          </a:xfrm>
          <a:prstGeom prst="rect">
            <a:avLst/>
          </a:prstGeom>
          <a:solidFill>
            <a:srgbClr val="FF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4857750" y="1323380"/>
            <a:ext cx="3714750" cy="57150"/>
          </a:xfrm>
          <a:prstGeom prst="rect">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5143500" y="1948095"/>
            <a:ext cx="3143250" cy="121444"/>
          </a:xfrm>
          <a:prstGeom prst="rect">
            <a:avLst/>
          </a:prstGeom>
          <a:noFill/>
          <a:ln>
            <a:noFill/>
          </a:ln>
        </p:spPr>
        <p:txBody>
          <a:bodyPr anchorCtr="0" anchor="t" bIns="0" lIns="0" spcFirstLastPara="1" rIns="0" wrap="square" tIns="0">
            <a:spAutoFit/>
          </a:bodyPr>
          <a:lstStyle/>
          <a:p>
            <a:pPr indent="0" lvl="0" marL="0" marR="0" rtl="0" algn="ctr">
              <a:lnSpc>
                <a:spcPct val="131771"/>
              </a:lnSpc>
              <a:spcBef>
                <a:spcPts val="0"/>
              </a:spcBef>
              <a:spcAft>
                <a:spcPts val="0"/>
              </a:spcAft>
              <a:buClr>
                <a:srgbClr val="E53E3E"/>
              </a:buClr>
              <a:buSzPts val="683"/>
              <a:buFont typeface="Inter"/>
              <a:buNone/>
            </a:pPr>
            <a:r>
              <a:rPr b="1" i="0" lang="en-US" sz="683" u="none" cap="none" strike="noStrike">
                <a:solidFill>
                  <a:srgbClr val="E53E3E"/>
                </a:solidFill>
                <a:latin typeface="Inter"/>
                <a:ea typeface="Inter"/>
                <a:cs typeface="Inter"/>
                <a:sym typeface="Inter"/>
              </a:rPr>
              <a:t>IMPACT SOCIÉTAL</a:t>
            </a:r>
            <a:endParaRPr b="0" i="0" sz="683" u="none" cap="none" strike="noStrike">
              <a:solidFill>
                <a:schemeClr val="dk1"/>
              </a:solidFill>
              <a:latin typeface="Calibri"/>
              <a:ea typeface="Calibri"/>
              <a:cs typeface="Calibri"/>
              <a:sym typeface="Calibri"/>
            </a:endParaRPr>
          </a:p>
        </p:txBody>
      </p:sp>
      <p:sp>
        <p:nvSpPr>
          <p:cNvPr id="117" name="Google Shape;117;p5"/>
          <p:cNvSpPr/>
          <p:nvPr/>
        </p:nvSpPr>
        <p:spPr>
          <a:xfrm>
            <a:off x="5143500" y="2212414"/>
            <a:ext cx="3143250" cy="668638"/>
          </a:xfrm>
          <a:prstGeom prst="rect">
            <a:avLst/>
          </a:prstGeom>
          <a:noFill/>
          <a:ln>
            <a:noFill/>
          </a:ln>
        </p:spPr>
        <p:txBody>
          <a:bodyPr anchorCtr="0" anchor="t" bIns="0" lIns="0" spcFirstLastPara="1" rIns="0" wrap="square" tIns="0">
            <a:spAutoFit/>
          </a:bodyPr>
          <a:lstStyle/>
          <a:p>
            <a:pPr indent="0" lvl="0" marL="0" marR="0" rtl="0" algn="ctr">
              <a:lnSpc>
                <a:spcPct val="150880"/>
              </a:lnSpc>
              <a:spcBef>
                <a:spcPts val="0"/>
              </a:spcBef>
              <a:spcAft>
                <a:spcPts val="0"/>
              </a:spcAft>
              <a:buClr>
                <a:srgbClr val="2D3748"/>
              </a:buClr>
              <a:buSzPts val="1193"/>
              <a:buFont typeface="Inter"/>
              <a:buNone/>
            </a:pPr>
            <a:r>
              <a:rPr b="1" i="0" lang="en-US" sz="1193" u="none" cap="none" strike="noStrike">
                <a:solidFill>
                  <a:srgbClr val="2D3748"/>
                </a:solidFill>
                <a:latin typeface="Inter"/>
                <a:ea typeface="Inter"/>
                <a:cs typeface="Inter"/>
                <a:sym typeface="Inter"/>
              </a:rPr>
              <a:t>La </a:t>
            </a:r>
            <a:r>
              <a:rPr b="1" i="0" lang="en-US" sz="1193" u="none" cap="none" strike="noStrike">
                <a:solidFill>
                  <a:srgbClr val="E53E3E"/>
                </a:solidFill>
                <a:latin typeface="Inter"/>
                <a:ea typeface="Inter"/>
                <a:cs typeface="Inter"/>
                <a:sym typeface="Inter"/>
              </a:rPr>
              <a:t>polarisation</a:t>
            </a:r>
            <a:r>
              <a:rPr b="1" i="0" lang="en-US" sz="1193" u="none" cap="none" strike="noStrike">
                <a:solidFill>
                  <a:srgbClr val="2D3748"/>
                </a:solidFill>
                <a:latin typeface="Inter"/>
                <a:ea typeface="Inter"/>
                <a:cs typeface="Inter"/>
                <a:sym typeface="Inter"/>
              </a:rPr>
              <a:t> de l'opinion et l'érosion de la vie privée menacent les fondements de nos démocraties.</a:t>
            </a:r>
            <a:endParaRPr b="0" i="0" sz="1193" u="none" cap="none" strike="noStrike">
              <a:solidFill>
                <a:schemeClr val="dk1"/>
              </a:solidFill>
              <a:latin typeface="Calibri"/>
              <a:ea typeface="Calibri"/>
              <a:cs typeface="Calibri"/>
              <a:sym typeface="Calibri"/>
            </a:endParaRPr>
          </a:p>
        </p:txBody>
      </p:sp>
      <p:pic>
        <p:nvPicPr>
          <p:cNvPr descr="preencoded.png" id="118" name="Google Shape;118;p5"/>
          <p:cNvPicPr preferRelativeResize="0"/>
          <p:nvPr/>
        </p:nvPicPr>
        <p:blipFill rotWithShape="1">
          <a:blip r:embed="rId4">
            <a:alphaModFix/>
          </a:blip>
          <a:srcRect b="0" l="0" r="0" t="0"/>
          <a:stretch/>
        </p:blipFill>
        <p:spPr>
          <a:xfrm>
            <a:off x="6515100" y="3209665"/>
            <a:ext cx="400050" cy="4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preencoded.png" id="124" name="Google Shape;124;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25" name="Google Shape;125;p6"/>
          <p:cNvSpPr/>
          <p:nvPr/>
        </p:nvSpPr>
        <p:spPr>
          <a:xfrm>
            <a:off x="714375" y="428625"/>
            <a:ext cx="6331148" cy="466130"/>
          </a:xfrm>
          <a:prstGeom prst="rect">
            <a:avLst/>
          </a:prstGeom>
          <a:noFill/>
          <a:ln>
            <a:noFill/>
          </a:ln>
        </p:spPr>
        <p:txBody>
          <a:bodyPr anchorCtr="0" anchor="t" bIns="85075" lIns="0" spcFirstLastPara="1" rIns="0" wrap="square" tIns="0">
            <a:spAutoFit/>
          </a:bodyPr>
          <a:lstStyle/>
          <a:p>
            <a:pPr indent="0" lvl="0" marL="0" marR="0" rtl="0" algn="l">
              <a:lnSpc>
                <a:spcPct val="132013"/>
              </a:lnSpc>
              <a:spcBef>
                <a:spcPts val="0"/>
              </a:spcBef>
              <a:spcAft>
                <a:spcPts val="0"/>
              </a:spcAft>
              <a:buClr>
                <a:srgbClr val="1A202C"/>
              </a:buClr>
              <a:buSzPts val="2121"/>
              <a:buFont typeface="Montserrat"/>
              <a:buNone/>
            </a:pPr>
            <a:r>
              <a:rPr b="1" i="0" lang="en-US" sz="2121" u="none" cap="none" strike="noStrike">
                <a:solidFill>
                  <a:srgbClr val="1A202C"/>
                </a:solidFill>
                <a:latin typeface="Montserrat"/>
                <a:ea typeface="Montserrat"/>
                <a:cs typeface="Montserrat"/>
                <a:sym typeface="Montserrat"/>
              </a:rPr>
              <a:t>05. SOUVERAINETÉ ET RESPONSABILITÉ</a:t>
            </a:r>
            <a:endParaRPr b="0" i="0" sz="2121" u="none" cap="none" strike="noStrike">
              <a:solidFill>
                <a:schemeClr val="dk1"/>
              </a:solidFill>
              <a:latin typeface="Calibri"/>
              <a:ea typeface="Calibri"/>
              <a:cs typeface="Calibri"/>
              <a:sym typeface="Calibri"/>
            </a:endParaRPr>
          </a:p>
        </p:txBody>
      </p:sp>
      <p:sp>
        <p:nvSpPr>
          <p:cNvPr id="126" name="Google Shape;126;p6"/>
          <p:cNvSpPr/>
          <p:nvPr/>
        </p:nvSpPr>
        <p:spPr>
          <a:xfrm>
            <a:off x="714375" y="1323380"/>
            <a:ext cx="371475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SOUVERAINETÉ NUMÉRIQUE</a:t>
            </a:r>
            <a:endParaRPr b="0" i="0" sz="1193" u="none" cap="none" strike="noStrike">
              <a:solidFill>
                <a:schemeClr val="dk1"/>
              </a:solidFill>
              <a:latin typeface="Calibri"/>
              <a:ea typeface="Calibri"/>
              <a:cs typeface="Calibri"/>
              <a:sym typeface="Calibri"/>
            </a:endParaRPr>
          </a:p>
        </p:txBody>
      </p:sp>
      <p:sp>
        <p:nvSpPr>
          <p:cNvPr id="127" name="Google Shape;127;p6"/>
          <p:cNvSpPr/>
          <p:nvPr/>
        </p:nvSpPr>
        <p:spPr>
          <a:xfrm>
            <a:off x="714375" y="1616273"/>
            <a:ext cx="371475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Puissance supra-étatique défiant les législations nationales et le contrôle des données.</a:t>
            </a:r>
            <a:endParaRPr b="0" i="0" sz="1050" u="none" cap="none" strike="noStrike">
              <a:solidFill>
                <a:schemeClr val="dk1"/>
              </a:solidFill>
              <a:latin typeface="Calibri"/>
              <a:ea typeface="Calibri"/>
              <a:cs typeface="Calibri"/>
              <a:sym typeface="Calibri"/>
            </a:endParaRPr>
          </a:p>
        </p:txBody>
      </p:sp>
      <p:sp>
        <p:nvSpPr>
          <p:cNvPr id="128" name="Google Shape;128;p6"/>
          <p:cNvSpPr/>
          <p:nvPr/>
        </p:nvSpPr>
        <p:spPr>
          <a:xfrm>
            <a:off x="714375" y="2330648"/>
            <a:ext cx="371475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OPTIMISATION FISCALE</a:t>
            </a:r>
            <a:endParaRPr b="0" i="0" sz="1193" u="none" cap="none" strike="noStrike">
              <a:solidFill>
                <a:schemeClr val="dk1"/>
              </a:solidFill>
              <a:latin typeface="Calibri"/>
              <a:ea typeface="Calibri"/>
              <a:cs typeface="Calibri"/>
              <a:sym typeface="Calibri"/>
            </a:endParaRPr>
          </a:p>
        </p:txBody>
      </p:sp>
      <p:sp>
        <p:nvSpPr>
          <p:cNvPr id="129" name="Google Shape;129;p6"/>
          <p:cNvSpPr/>
          <p:nvPr/>
        </p:nvSpPr>
        <p:spPr>
          <a:xfrm>
            <a:off x="714375" y="2623542"/>
            <a:ext cx="371475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Utilisation de mécanismes mondiaux pour minimiser l'impôt payé localement.</a:t>
            </a:r>
            <a:endParaRPr b="0" i="0" sz="1050" u="none" cap="none" strike="noStrike">
              <a:solidFill>
                <a:schemeClr val="dk1"/>
              </a:solidFill>
              <a:latin typeface="Calibri"/>
              <a:ea typeface="Calibri"/>
              <a:cs typeface="Calibri"/>
              <a:sym typeface="Calibri"/>
            </a:endParaRPr>
          </a:p>
        </p:txBody>
      </p:sp>
      <p:sp>
        <p:nvSpPr>
          <p:cNvPr id="130" name="Google Shape;130;p6"/>
          <p:cNvSpPr/>
          <p:nvPr/>
        </p:nvSpPr>
        <p:spPr>
          <a:xfrm>
            <a:off x="714375" y="3337917"/>
            <a:ext cx="3714750" cy="207169"/>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EMPREINTE ÉCOLOGIQUE</a:t>
            </a:r>
            <a:endParaRPr b="0" i="0" sz="1193" u="none" cap="none" strike="noStrike">
              <a:solidFill>
                <a:schemeClr val="dk1"/>
              </a:solidFill>
              <a:latin typeface="Calibri"/>
              <a:ea typeface="Calibri"/>
              <a:cs typeface="Calibri"/>
              <a:sym typeface="Calibri"/>
            </a:endParaRPr>
          </a:p>
        </p:txBody>
      </p:sp>
      <p:sp>
        <p:nvSpPr>
          <p:cNvPr id="131" name="Google Shape;131;p6"/>
          <p:cNvSpPr/>
          <p:nvPr/>
        </p:nvSpPr>
        <p:spPr>
          <a:xfrm>
            <a:off x="714375" y="3630811"/>
            <a:ext cx="3714750" cy="428625"/>
          </a:xfrm>
          <a:prstGeom prst="rect">
            <a:avLst/>
          </a:prstGeom>
          <a:noFill/>
          <a:ln>
            <a:noFill/>
          </a:ln>
        </p:spPr>
        <p:txBody>
          <a:bodyPr anchorCtr="0" anchor="t" bIns="0" lIns="0" spcFirstLastPara="1" rIns="0" wrap="square" tIns="0">
            <a:spAutoFit/>
          </a:bodyPr>
          <a:lstStyle/>
          <a:p>
            <a:pPr indent="0" lvl="0" marL="0" marR="0" rtl="0" algn="l">
              <a:lnSpc>
                <a:spcPct val="161904"/>
              </a:lnSpc>
              <a:spcBef>
                <a:spcPts val="0"/>
              </a:spcBef>
              <a:spcAft>
                <a:spcPts val="0"/>
              </a:spcAft>
              <a:buClr>
                <a:srgbClr val="4A5568"/>
              </a:buClr>
              <a:buSzPts val="1050"/>
              <a:buFont typeface="Inter"/>
              <a:buNone/>
            </a:pPr>
            <a:r>
              <a:rPr b="0" i="0" lang="en-US" sz="1050" u="none" cap="none" strike="noStrike">
                <a:solidFill>
                  <a:srgbClr val="4A5568"/>
                </a:solidFill>
                <a:latin typeface="Inter"/>
                <a:ea typeface="Inter"/>
                <a:cs typeface="Inter"/>
                <a:sym typeface="Inter"/>
              </a:rPr>
              <a:t>Consommation énergétique massive des centres de données et impact environnemental croissant.</a:t>
            </a:r>
            <a:endParaRPr b="0" i="0" sz="1050" u="none" cap="none" strike="noStrike">
              <a:solidFill>
                <a:schemeClr val="dk1"/>
              </a:solidFill>
              <a:latin typeface="Calibri"/>
              <a:ea typeface="Calibri"/>
              <a:cs typeface="Calibri"/>
              <a:sym typeface="Calibri"/>
            </a:endParaRPr>
          </a:p>
        </p:txBody>
      </p:sp>
      <p:sp>
        <p:nvSpPr>
          <p:cNvPr id="132" name="Google Shape;132;p6"/>
          <p:cNvSpPr/>
          <p:nvPr/>
        </p:nvSpPr>
        <p:spPr>
          <a:xfrm>
            <a:off x="4857750" y="1323380"/>
            <a:ext cx="3714750" cy="3021806"/>
          </a:xfrm>
          <a:prstGeom prst="rect">
            <a:avLst/>
          </a:prstGeom>
          <a:solidFill>
            <a:srgbClr val="F7FAFC"/>
          </a:solidFill>
          <a:ln cap="flat" cmpd="sng" w="1827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5214938" y="1820959"/>
            <a:ext cx="3000375" cy="121444"/>
          </a:xfrm>
          <a:prstGeom prst="rect">
            <a:avLst/>
          </a:prstGeom>
          <a:noFill/>
          <a:ln>
            <a:noFill/>
          </a:ln>
        </p:spPr>
        <p:txBody>
          <a:bodyPr anchorCtr="0" anchor="t" bIns="0" lIns="0" spcFirstLastPara="1" rIns="0" wrap="square" tIns="0">
            <a:spAutoFit/>
          </a:bodyPr>
          <a:lstStyle/>
          <a:p>
            <a:pPr indent="0" lvl="0" marL="0" marR="0" rtl="0" algn="ctr">
              <a:lnSpc>
                <a:spcPct val="131771"/>
              </a:lnSpc>
              <a:spcBef>
                <a:spcPts val="0"/>
              </a:spcBef>
              <a:spcAft>
                <a:spcPts val="0"/>
              </a:spcAft>
              <a:buClr>
                <a:srgbClr val="718096"/>
              </a:buClr>
              <a:buSzPts val="683"/>
              <a:buFont typeface="Inter"/>
              <a:buNone/>
            </a:pPr>
            <a:r>
              <a:rPr b="1" i="0" lang="en-US" sz="683" u="none" cap="none" strike="noStrike">
                <a:solidFill>
                  <a:srgbClr val="718096"/>
                </a:solidFill>
                <a:latin typeface="Inter"/>
                <a:ea typeface="Inter"/>
                <a:cs typeface="Inter"/>
                <a:sym typeface="Inter"/>
              </a:rPr>
              <a:t>CONSTAT GLOBAL</a:t>
            </a:r>
            <a:endParaRPr b="0" i="0" sz="683" u="none" cap="none" strike="noStrike">
              <a:solidFill>
                <a:schemeClr val="dk1"/>
              </a:solidFill>
              <a:latin typeface="Calibri"/>
              <a:ea typeface="Calibri"/>
              <a:cs typeface="Calibri"/>
              <a:sym typeface="Calibri"/>
            </a:endParaRPr>
          </a:p>
        </p:txBody>
      </p:sp>
      <p:sp>
        <p:nvSpPr>
          <p:cNvPr id="134" name="Google Shape;134;p6"/>
          <p:cNvSpPr/>
          <p:nvPr/>
        </p:nvSpPr>
        <p:spPr>
          <a:xfrm>
            <a:off x="5214938" y="2085277"/>
            <a:ext cx="3000375" cy="780064"/>
          </a:xfrm>
          <a:prstGeom prst="rect">
            <a:avLst/>
          </a:prstGeom>
          <a:noFill/>
          <a:ln>
            <a:noFill/>
          </a:ln>
        </p:spPr>
        <p:txBody>
          <a:bodyPr anchorCtr="0" anchor="t" bIns="0" lIns="0" spcFirstLastPara="1" rIns="0" wrap="square" tIns="0">
            <a:spAutoFit/>
          </a:bodyPr>
          <a:lstStyle/>
          <a:p>
            <a:pPr indent="0" lvl="0" marL="0" marR="0" rtl="0" algn="ctr">
              <a:lnSpc>
                <a:spcPct val="143163"/>
              </a:lnSpc>
              <a:spcBef>
                <a:spcPts val="0"/>
              </a:spcBef>
              <a:spcAft>
                <a:spcPts val="0"/>
              </a:spcAft>
              <a:buClr>
                <a:srgbClr val="2D3748"/>
              </a:buClr>
              <a:buSzPts val="1397"/>
              <a:buFont typeface="Inter"/>
              <a:buNone/>
            </a:pPr>
            <a:r>
              <a:rPr b="1" i="0" lang="en-US" sz="1397" u="none" cap="none" strike="noStrike">
                <a:solidFill>
                  <a:srgbClr val="2D3748"/>
                </a:solidFill>
                <a:latin typeface="Inter"/>
                <a:ea typeface="Inter"/>
                <a:cs typeface="Inter"/>
                <a:sym typeface="Inter"/>
              </a:rPr>
              <a:t>Un décalage entre la </a:t>
            </a:r>
            <a:r>
              <a:rPr b="1" i="0" lang="en-US" sz="1397" u="none" cap="none" strike="noStrike">
                <a:solidFill>
                  <a:srgbClr val="3182CE"/>
                </a:solidFill>
                <a:latin typeface="Inter"/>
                <a:ea typeface="Inter"/>
                <a:cs typeface="Inter"/>
                <a:sym typeface="Inter"/>
              </a:rPr>
              <a:t>richesse générée</a:t>
            </a:r>
            <a:r>
              <a:rPr b="1" i="0" lang="en-US" sz="1397" u="none" cap="none" strike="noStrike">
                <a:solidFill>
                  <a:srgbClr val="2D3748"/>
                </a:solidFill>
                <a:latin typeface="Inter"/>
                <a:ea typeface="Inter"/>
                <a:cs typeface="Inter"/>
                <a:sym typeface="Inter"/>
              </a:rPr>
              <a:t> et la contribution au bien commun mondial.</a:t>
            </a:r>
            <a:endParaRPr b="0" i="0" sz="1397" u="none" cap="none" strike="noStrike">
              <a:solidFill>
                <a:schemeClr val="dk1"/>
              </a:solidFill>
              <a:latin typeface="Calibri"/>
              <a:ea typeface="Calibri"/>
              <a:cs typeface="Calibri"/>
              <a:sym typeface="Calibri"/>
            </a:endParaRPr>
          </a:p>
        </p:txBody>
      </p:sp>
      <p:pic>
        <p:nvPicPr>
          <p:cNvPr descr="preencoded.png" id="135" name="Google Shape;135;p6"/>
          <p:cNvPicPr preferRelativeResize="0"/>
          <p:nvPr/>
        </p:nvPicPr>
        <p:blipFill rotWithShape="1">
          <a:blip r:embed="rId4">
            <a:alphaModFix/>
          </a:blip>
          <a:srcRect b="0" l="0" r="0" t="0"/>
          <a:stretch/>
        </p:blipFill>
        <p:spPr>
          <a:xfrm>
            <a:off x="6486525" y="3336829"/>
            <a:ext cx="457200" cy="457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preencoded.png" id="141" name="Google Shape;141;p7"/>
          <p:cNvPicPr preferRelativeResize="0"/>
          <p:nvPr/>
        </p:nvPicPr>
        <p:blipFill rotWithShape="1">
          <a:blip r:embed="rId3">
            <a:alphaModFix/>
          </a:blip>
          <a:srcRect b="0" l="0" r="0" t="0"/>
          <a:stretch/>
        </p:blipFill>
        <p:spPr>
          <a:xfrm>
            <a:off x="-41575" y="0"/>
            <a:ext cx="9144000" cy="5143500"/>
          </a:xfrm>
          <a:prstGeom prst="rect">
            <a:avLst/>
          </a:prstGeom>
          <a:noFill/>
          <a:ln>
            <a:noFill/>
          </a:ln>
        </p:spPr>
      </p:pic>
      <p:sp>
        <p:nvSpPr>
          <p:cNvPr id="142" name="Google Shape;142;p7"/>
          <p:cNvSpPr/>
          <p:nvPr/>
        </p:nvSpPr>
        <p:spPr>
          <a:xfrm>
            <a:off x="714375" y="428625"/>
            <a:ext cx="4489847" cy="466130"/>
          </a:xfrm>
          <a:prstGeom prst="rect">
            <a:avLst/>
          </a:prstGeom>
          <a:noFill/>
          <a:ln>
            <a:noFill/>
          </a:ln>
        </p:spPr>
        <p:txBody>
          <a:bodyPr anchorCtr="0" anchor="t" bIns="85075" lIns="0" spcFirstLastPara="1" rIns="0" wrap="square" tIns="0">
            <a:spAutoFit/>
          </a:bodyPr>
          <a:lstStyle/>
          <a:p>
            <a:pPr indent="0" lvl="0" marL="0" marR="0" rtl="0" algn="l">
              <a:lnSpc>
                <a:spcPct val="132013"/>
              </a:lnSpc>
              <a:spcBef>
                <a:spcPts val="0"/>
              </a:spcBef>
              <a:spcAft>
                <a:spcPts val="0"/>
              </a:spcAft>
              <a:buClr>
                <a:srgbClr val="1A202C"/>
              </a:buClr>
              <a:buSzPts val="2121"/>
              <a:buFont typeface="Montserrat"/>
              <a:buNone/>
            </a:pPr>
            <a:r>
              <a:rPr b="1" i="0" lang="en-US" sz="2121" u="none" cap="none" strike="noStrike">
                <a:solidFill>
                  <a:srgbClr val="1A202C"/>
                </a:solidFill>
                <a:latin typeface="Montserrat"/>
                <a:ea typeface="Montserrat"/>
                <a:cs typeface="Montserrat"/>
                <a:sym typeface="Montserrat"/>
              </a:rPr>
              <a:t>0</a:t>
            </a:r>
            <a:r>
              <a:rPr b="1" lang="en-US" sz="2121">
                <a:solidFill>
                  <a:srgbClr val="1A202C"/>
                </a:solidFill>
                <a:latin typeface="Montserrat"/>
                <a:ea typeface="Montserrat"/>
                <a:cs typeface="Montserrat"/>
                <a:sym typeface="Montserrat"/>
              </a:rPr>
              <a:t>6</a:t>
            </a:r>
            <a:r>
              <a:rPr b="1" i="0" lang="en-US" sz="2121" u="none" cap="none" strike="noStrike">
                <a:solidFill>
                  <a:srgbClr val="1A202C"/>
                </a:solidFill>
                <a:latin typeface="Montserrat"/>
                <a:ea typeface="Montserrat"/>
                <a:cs typeface="Montserrat"/>
                <a:sym typeface="Montserrat"/>
              </a:rPr>
              <a:t>. LES NOUVEAUX MÉTIERS</a:t>
            </a:r>
            <a:endParaRPr b="0" i="0" sz="2121" u="none" cap="none" strike="noStrike">
              <a:solidFill>
                <a:schemeClr val="dk1"/>
              </a:solidFill>
              <a:latin typeface="Calibri"/>
              <a:ea typeface="Calibri"/>
              <a:cs typeface="Calibri"/>
              <a:sym typeface="Calibri"/>
            </a:endParaRPr>
          </a:p>
        </p:txBody>
      </p:sp>
      <p:pic>
        <p:nvPicPr>
          <p:cNvPr descr="preencoded.png" id="143" name="Google Shape;143;p7"/>
          <p:cNvPicPr preferRelativeResize="0"/>
          <p:nvPr/>
        </p:nvPicPr>
        <p:blipFill rotWithShape="1">
          <a:blip r:embed="rId4">
            <a:alphaModFix/>
          </a:blip>
          <a:srcRect b="0" l="0" r="0" t="0"/>
          <a:stretch/>
        </p:blipFill>
        <p:spPr>
          <a:xfrm>
            <a:off x="885825" y="1356420"/>
            <a:ext cx="125016" cy="142875"/>
          </a:xfrm>
          <a:prstGeom prst="rect">
            <a:avLst/>
          </a:prstGeom>
          <a:noFill/>
          <a:ln>
            <a:noFill/>
          </a:ln>
        </p:spPr>
      </p:pic>
      <p:sp>
        <p:nvSpPr>
          <p:cNvPr id="144" name="Google Shape;144;p7"/>
          <p:cNvSpPr/>
          <p:nvPr/>
        </p:nvSpPr>
        <p:spPr>
          <a:xfrm>
            <a:off x="1117997" y="1323380"/>
            <a:ext cx="1462683"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Montserrat"/>
              <a:buNone/>
            </a:pPr>
            <a:r>
              <a:rPr b="1" i="0" lang="en-US" sz="1193" u="none" cap="none" strike="noStrike">
                <a:solidFill>
                  <a:srgbClr val="3182CE"/>
                </a:solidFill>
                <a:latin typeface="Montserrat"/>
                <a:ea typeface="Montserrat"/>
                <a:cs typeface="Montserrat"/>
                <a:sym typeface="Montserrat"/>
              </a:rPr>
              <a:t>DATA SCIENTIST</a:t>
            </a:r>
            <a:endParaRPr b="0" i="0" sz="1193" u="none" cap="none" strike="noStrike">
              <a:solidFill>
                <a:schemeClr val="dk1"/>
              </a:solidFill>
              <a:latin typeface="Calibri"/>
              <a:ea typeface="Calibri"/>
              <a:cs typeface="Calibri"/>
              <a:sym typeface="Calibri"/>
            </a:endParaRPr>
          </a:p>
        </p:txBody>
      </p:sp>
      <p:sp>
        <p:nvSpPr>
          <p:cNvPr id="145" name="Google Shape;145;p7"/>
          <p:cNvSpPr/>
          <p:nvPr/>
        </p:nvSpPr>
        <p:spPr>
          <a:xfrm>
            <a:off x="885825" y="1603772"/>
            <a:ext cx="3543300" cy="385763"/>
          </a:xfrm>
          <a:prstGeom prst="rect">
            <a:avLst/>
          </a:prstGeom>
          <a:noFill/>
          <a:ln>
            <a:noFill/>
          </a:ln>
        </p:spPr>
        <p:txBody>
          <a:bodyPr anchorCtr="0" anchor="t" bIns="0" lIns="0" spcFirstLastPara="1" rIns="0" wrap="square" tIns="0">
            <a:spAutoFit/>
          </a:bodyPr>
          <a:lstStyle/>
          <a:p>
            <a:pPr indent="0" lvl="0" marL="0" marR="0" rtl="0" algn="l">
              <a:lnSpc>
                <a:spcPct val="159235"/>
              </a:lnSpc>
              <a:spcBef>
                <a:spcPts val="0"/>
              </a:spcBef>
              <a:spcAft>
                <a:spcPts val="0"/>
              </a:spcAft>
              <a:buClr>
                <a:srgbClr val="4A5568"/>
              </a:buClr>
              <a:buSzPts val="942"/>
              <a:buFont typeface="Inter"/>
              <a:buNone/>
            </a:pPr>
            <a:r>
              <a:rPr b="0" i="0" lang="en-US" sz="942" u="none" cap="none" strike="noStrike">
                <a:solidFill>
                  <a:srgbClr val="4A5568"/>
                </a:solidFill>
                <a:latin typeface="Inter"/>
                <a:ea typeface="Inter"/>
                <a:cs typeface="Inter"/>
                <a:sym typeface="Inter"/>
              </a:rPr>
              <a:t>Analyse et interprétation des données massives pour orienter les décisions stratégiques.</a:t>
            </a:r>
            <a:endParaRPr b="0" i="0" sz="942" u="none" cap="none" strike="noStrike">
              <a:solidFill>
                <a:schemeClr val="dk1"/>
              </a:solidFill>
              <a:latin typeface="Calibri"/>
              <a:ea typeface="Calibri"/>
              <a:cs typeface="Calibri"/>
              <a:sym typeface="Calibri"/>
            </a:endParaRPr>
          </a:p>
        </p:txBody>
      </p:sp>
      <p:pic>
        <p:nvPicPr>
          <p:cNvPr descr="preencoded.png" id="146" name="Google Shape;146;p7"/>
          <p:cNvPicPr preferRelativeResize="0"/>
          <p:nvPr/>
        </p:nvPicPr>
        <p:blipFill rotWithShape="1">
          <a:blip r:embed="rId5">
            <a:alphaModFix/>
          </a:blip>
          <a:srcRect b="0" l="0" r="0" t="0"/>
          <a:stretch/>
        </p:blipFill>
        <p:spPr>
          <a:xfrm>
            <a:off x="885825" y="2308324"/>
            <a:ext cx="178594" cy="142875"/>
          </a:xfrm>
          <a:prstGeom prst="rect">
            <a:avLst/>
          </a:prstGeom>
          <a:noFill/>
          <a:ln>
            <a:noFill/>
          </a:ln>
        </p:spPr>
      </p:pic>
      <p:sp>
        <p:nvSpPr>
          <p:cNvPr id="147" name="Google Shape;147;p7"/>
          <p:cNvSpPr/>
          <p:nvPr/>
        </p:nvSpPr>
        <p:spPr>
          <a:xfrm>
            <a:off x="1171575" y="2275284"/>
            <a:ext cx="1357313"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Montserrat"/>
              <a:buNone/>
            </a:pPr>
            <a:r>
              <a:rPr b="1" i="0" lang="en-US" sz="1193" u="none" cap="none" strike="noStrike">
                <a:solidFill>
                  <a:srgbClr val="3182CE"/>
                </a:solidFill>
                <a:latin typeface="Montserrat"/>
                <a:ea typeface="Montserrat"/>
                <a:cs typeface="Montserrat"/>
                <a:sym typeface="Montserrat"/>
              </a:rPr>
              <a:t>EXPERT CYBER</a:t>
            </a:r>
            <a:endParaRPr b="0" i="0" sz="1193" u="none" cap="none" strike="noStrike">
              <a:solidFill>
                <a:schemeClr val="dk1"/>
              </a:solidFill>
              <a:latin typeface="Calibri"/>
              <a:ea typeface="Calibri"/>
              <a:cs typeface="Calibri"/>
              <a:sym typeface="Calibri"/>
            </a:endParaRPr>
          </a:p>
        </p:txBody>
      </p:sp>
      <p:sp>
        <p:nvSpPr>
          <p:cNvPr id="148" name="Google Shape;148;p7"/>
          <p:cNvSpPr/>
          <p:nvPr/>
        </p:nvSpPr>
        <p:spPr>
          <a:xfrm>
            <a:off x="885825" y="2555677"/>
            <a:ext cx="3543300" cy="385763"/>
          </a:xfrm>
          <a:prstGeom prst="rect">
            <a:avLst/>
          </a:prstGeom>
          <a:noFill/>
          <a:ln>
            <a:noFill/>
          </a:ln>
        </p:spPr>
        <p:txBody>
          <a:bodyPr anchorCtr="0" anchor="t" bIns="0" lIns="0" spcFirstLastPara="1" rIns="0" wrap="square" tIns="0">
            <a:spAutoFit/>
          </a:bodyPr>
          <a:lstStyle/>
          <a:p>
            <a:pPr indent="0" lvl="0" marL="0" marR="0" rtl="0" algn="l">
              <a:lnSpc>
                <a:spcPct val="159235"/>
              </a:lnSpc>
              <a:spcBef>
                <a:spcPts val="0"/>
              </a:spcBef>
              <a:spcAft>
                <a:spcPts val="0"/>
              </a:spcAft>
              <a:buClr>
                <a:srgbClr val="4A5568"/>
              </a:buClr>
              <a:buSzPts val="942"/>
              <a:buFont typeface="Inter"/>
              <a:buNone/>
            </a:pPr>
            <a:r>
              <a:rPr b="0" i="0" lang="en-US" sz="942" u="none" cap="none" strike="noStrike">
                <a:solidFill>
                  <a:srgbClr val="4A5568"/>
                </a:solidFill>
                <a:latin typeface="Inter"/>
                <a:ea typeface="Inter"/>
                <a:cs typeface="Inter"/>
                <a:sym typeface="Inter"/>
              </a:rPr>
              <a:t>Protection des systèmes d'information et lutte contre la cybercriminalité mondiale.</a:t>
            </a:r>
            <a:endParaRPr b="0" i="0" sz="942" u="none" cap="none" strike="noStrike">
              <a:solidFill>
                <a:schemeClr val="dk1"/>
              </a:solidFill>
              <a:latin typeface="Calibri"/>
              <a:ea typeface="Calibri"/>
              <a:cs typeface="Calibri"/>
              <a:sym typeface="Calibri"/>
            </a:endParaRPr>
          </a:p>
        </p:txBody>
      </p:sp>
      <p:pic>
        <p:nvPicPr>
          <p:cNvPr descr="preencoded.png" id="149" name="Google Shape;149;p7"/>
          <p:cNvPicPr preferRelativeResize="0"/>
          <p:nvPr/>
        </p:nvPicPr>
        <p:blipFill rotWithShape="1">
          <a:blip r:embed="rId6">
            <a:alphaModFix/>
          </a:blip>
          <a:srcRect b="0" l="0" r="0" t="0"/>
          <a:stretch/>
        </p:blipFill>
        <p:spPr>
          <a:xfrm>
            <a:off x="5029200" y="1356420"/>
            <a:ext cx="142875" cy="142875"/>
          </a:xfrm>
          <a:prstGeom prst="rect">
            <a:avLst/>
          </a:prstGeom>
          <a:noFill/>
          <a:ln>
            <a:noFill/>
          </a:ln>
        </p:spPr>
      </p:pic>
      <p:sp>
        <p:nvSpPr>
          <p:cNvPr id="150" name="Google Shape;150;p7"/>
          <p:cNvSpPr/>
          <p:nvPr/>
        </p:nvSpPr>
        <p:spPr>
          <a:xfrm>
            <a:off x="5279231" y="1323380"/>
            <a:ext cx="1593056"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Montserrat"/>
              <a:buNone/>
            </a:pPr>
            <a:r>
              <a:rPr b="1" i="0" lang="en-US" sz="1193" u="none" cap="none" strike="noStrike">
                <a:solidFill>
                  <a:srgbClr val="3182CE"/>
                </a:solidFill>
                <a:latin typeface="Montserrat"/>
                <a:ea typeface="Montserrat"/>
                <a:cs typeface="Montserrat"/>
                <a:sym typeface="Montserrat"/>
              </a:rPr>
              <a:t>UX / UI DESIGNER</a:t>
            </a:r>
            <a:endParaRPr b="0" i="0" sz="1193" u="none" cap="none" strike="noStrike">
              <a:solidFill>
                <a:schemeClr val="dk1"/>
              </a:solidFill>
              <a:latin typeface="Calibri"/>
              <a:ea typeface="Calibri"/>
              <a:cs typeface="Calibri"/>
              <a:sym typeface="Calibri"/>
            </a:endParaRPr>
          </a:p>
        </p:txBody>
      </p:sp>
      <p:sp>
        <p:nvSpPr>
          <p:cNvPr id="151" name="Google Shape;151;p7"/>
          <p:cNvSpPr/>
          <p:nvPr/>
        </p:nvSpPr>
        <p:spPr>
          <a:xfrm>
            <a:off x="5029200" y="1603772"/>
            <a:ext cx="3543300" cy="385763"/>
          </a:xfrm>
          <a:prstGeom prst="rect">
            <a:avLst/>
          </a:prstGeom>
          <a:noFill/>
          <a:ln>
            <a:noFill/>
          </a:ln>
        </p:spPr>
        <p:txBody>
          <a:bodyPr anchorCtr="0" anchor="t" bIns="0" lIns="0" spcFirstLastPara="1" rIns="0" wrap="square" tIns="0">
            <a:spAutoFit/>
          </a:bodyPr>
          <a:lstStyle/>
          <a:p>
            <a:pPr indent="0" lvl="0" marL="0" marR="0" rtl="0" algn="l">
              <a:lnSpc>
                <a:spcPct val="159235"/>
              </a:lnSpc>
              <a:spcBef>
                <a:spcPts val="0"/>
              </a:spcBef>
              <a:spcAft>
                <a:spcPts val="0"/>
              </a:spcAft>
              <a:buClr>
                <a:srgbClr val="4A5568"/>
              </a:buClr>
              <a:buSzPts val="942"/>
              <a:buFont typeface="Inter"/>
              <a:buNone/>
            </a:pPr>
            <a:r>
              <a:rPr b="0" i="0" lang="en-US" sz="942" u="none" cap="none" strike="noStrike">
                <a:solidFill>
                  <a:srgbClr val="4A5568"/>
                </a:solidFill>
                <a:latin typeface="Inter"/>
                <a:ea typeface="Inter"/>
                <a:cs typeface="Inter"/>
                <a:sym typeface="Inter"/>
              </a:rPr>
              <a:t>Conception d'interfaces intuitives centrées sur l'expérience et le parcours utilisateur.</a:t>
            </a:r>
            <a:endParaRPr b="0" i="0" sz="942" u="none" cap="none" strike="noStrike">
              <a:solidFill>
                <a:schemeClr val="dk1"/>
              </a:solidFill>
              <a:latin typeface="Calibri"/>
              <a:ea typeface="Calibri"/>
              <a:cs typeface="Calibri"/>
              <a:sym typeface="Calibri"/>
            </a:endParaRPr>
          </a:p>
        </p:txBody>
      </p:sp>
      <p:pic>
        <p:nvPicPr>
          <p:cNvPr descr="preencoded.png" id="152" name="Google Shape;152;p7"/>
          <p:cNvPicPr preferRelativeResize="0"/>
          <p:nvPr/>
        </p:nvPicPr>
        <p:blipFill rotWithShape="1">
          <a:blip r:embed="rId7">
            <a:alphaModFix/>
          </a:blip>
          <a:srcRect b="0" l="0" r="0" t="0"/>
          <a:stretch/>
        </p:blipFill>
        <p:spPr>
          <a:xfrm>
            <a:off x="5029200" y="2308324"/>
            <a:ext cx="178594" cy="142875"/>
          </a:xfrm>
          <a:prstGeom prst="rect">
            <a:avLst/>
          </a:prstGeom>
          <a:noFill/>
          <a:ln>
            <a:noFill/>
          </a:ln>
        </p:spPr>
      </p:pic>
      <p:sp>
        <p:nvSpPr>
          <p:cNvPr id="153" name="Google Shape;153;p7"/>
          <p:cNvSpPr/>
          <p:nvPr/>
        </p:nvSpPr>
        <p:spPr>
          <a:xfrm>
            <a:off x="5314950" y="2275284"/>
            <a:ext cx="2130623"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Montserrat"/>
              <a:buNone/>
            </a:pPr>
            <a:r>
              <a:rPr b="1" i="0" lang="en-US" sz="1193" u="none" cap="none" strike="noStrike">
                <a:solidFill>
                  <a:srgbClr val="3182CE"/>
                </a:solidFill>
                <a:latin typeface="Montserrat"/>
                <a:ea typeface="Montserrat"/>
                <a:cs typeface="Montserrat"/>
                <a:sym typeface="Montserrat"/>
              </a:rPr>
              <a:t>COMMUNITY MANAGER</a:t>
            </a:r>
            <a:endParaRPr b="0" i="0" sz="1193" u="none" cap="none" strike="noStrike">
              <a:solidFill>
                <a:schemeClr val="dk1"/>
              </a:solidFill>
              <a:latin typeface="Calibri"/>
              <a:ea typeface="Calibri"/>
              <a:cs typeface="Calibri"/>
              <a:sym typeface="Calibri"/>
            </a:endParaRPr>
          </a:p>
        </p:txBody>
      </p:sp>
      <p:sp>
        <p:nvSpPr>
          <p:cNvPr id="154" name="Google Shape;154;p7"/>
          <p:cNvSpPr/>
          <p:nvPr/>
        </p:nvSpPr>
        <p:spPr>
          <a:xfrm>
            <a:off x="5029200" y="2555677"/>
            <a:ext cx="3543300" cy="385763"/>
          </a:xfrm>
          <a:prstGeom prst="rect">
            <a:avLst/>
          </a:prstGeom>
          <a:noFill/>
          <a:ln>
            <a:noFill/>
          </a:ln>
        </p:spPr>
        <p:txBody>
          <a:bodyPr anchorCtr="0" anchor="t" bIns="0" lIns="0" spcFirstLastPara="1" rIns="0" wrap="square" tIns="0">
            <a:spAutoFit/>
          </a:bodyPr>
          <a:lstStyle/>
          <a:p>
            <a:pPr indent="0" lvl="0" marL="0" marR="0" rtl="0" algn="l">
              <a:lnSpc>
                <a:spcPct val="159235"/>
              </a:lnSpc>
              <a:spcBef>
                <a:spcPts val="0"/>
              </a:spcBef>
              <a:spcAft>
                <a:spcPts val="0"/>
              </a:spcAft>
              <a:buClr>
                <a:srgbClr val="4A5568"/>
              </a:buClr>
              <a:buSzPts val="942"/>
              <a:buFont typeface="Inter"/>
              <a:buNone/>
            </a:pPr>
            <a:r>
              <a:rPr b="0" i="0" lang="en-US" sz="942" u="none" cap="none" strike="noStrike">
                <a:solidFill>
                  <a:srgbClr val="4A5568"/>
                </a:solidFill>
                <a:latin typeface="Inter"/>
                <a:ea typeface="Inter"/>
                <a:cs typeface="Inter"/>
                <a:sym typeface="Inter"/>
              </a:rPr>
              <a:t>Gestion de la présence sociale et de l'engagement des communautés en ligne.</a:t>
            </a:r>
            <a:endParaRPr b="0" i="0" sz="942" u="none" cap="none" strike="noStrike">
              <a:solidFill>
                <a:schemeClr val="dk1"/>
              </a:solidFill>
              <a:latin typeface="Calibri"/>
              <a:ea typeface="Calibri"/>
              <a:cs typeface="Calibri"/>
              <a:sym typeface="Calibri"/>
            </a:endParaRPr>
          </a:p>
        </p:txBody>
      </p:sp>
      <p:sp>
        <p:nvSpPr>
          <p:cNvPr id="155" name="Google Shape;155;p7"/>
          <p:cNvSpPr/>
          <p:nvPr/>
        </p:nvSpPr>
        <p:spPr>
          <a:xfrm>
            <a:off x="142875" y="4416623"/>
            <a:ext cx="9001125" cy="726877"/>
          </a:xfrm>
          <a:prstGeom prst="rect">
            <a:avLst/>
          </a:prstGeom>
          <a:solidFill>
            <a:srgbClr val="F7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142875" y="4416623"/>
            <a:ext cx="9001125" cy="726877"/>
          </a:xfrm>
          <a:prstGeom prst="rect">
            <a:avLst/>
          </a:prstGeom>
          <a:noFill/>
          <a:ln>
            <a:noFill/>
          </a:ln>
        </p:spPr>
        <p:txBody>
          <a:bodyPr anchorCtr="0" anchor="t" bIns="340225" lIns="680325" spcFirstLastPara="1" rIns="680325" wrap="square" tIns="340225">
            <a:spAutoFit/>
          </a:bodyPr>
          <a:lstStyle/>
          <a:p>
            <a:pPr indent="0" lvl="0" marL="0" marR="0" rtl="0" algn="ctr">
              <a:lnSpc>
                <a:spcPct val="135593"/>
              </a:lnSpc>
              <a:spcBef>
                <a:spcPts val="0"/>
              </a:spcBef>
              <a:spcAft>
                <a:spcPts val="0"/>
              </a:spcAft>
              <a:buClr>
                <a:srgbClr val="718096"/>
              </a:buClr>
              <a:buSzPts val="885"/>
              <a:buFont typeface="Inter"/>
              <a:buNone/>
            </a:pPr>
            <a:r>
              <a:rPr b="1" i="0" lang="en-US" sz="885" u="none" cap="none" strike="noStrike">
                <a:solidFill>
                  <a:srgbClr val="718096"/>
                </a:solidFill>
                <a:latin typeface="Inter"/>
                <a:ea typeface="Inter"/>
                <a:cs typeface="Inter"/>
                <a:sym typeface="Inter"/>
              </a:rPr>
              <a:t>DES MÉTIERS EN CONSTANTE ÉVOLUTION FACE AUX DÉFIS TECHNOLOGIQUES</a:t>
            </a:r>
            <a:endParaRPr b="0" i="0" sz="885"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descr="preencoded.png" id="162" name="Google Shape;162;p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63" name="Google Shape;163;p8"/>
          <p:cNvSpPr/>
          <p:nvPr/>
        </p:nvSpPr>
        <p:spPr>
          <a:xfrm>
            <a:off x="714375" y="428625"/>
            <a:ext cx="5675709" cy="466130"/>
          </a:xfrm>
          <a:prstGeom prst="rect">
            <a:avLst/>
          </a:prstGeom>
          <a:noFill/>
          <a:ln>
            <a:noFill/>
          </a:ln>
        </p:spPr>
        <p:txBody>
          <a:bodyPr anchorCtr="0" anchor="t" bIns="85075" lIns="0" spcFirstLastPara="1" rIns="0" wrap="square" tIns="0">
            <a:spAutoFit/>
          </a:bodyPr>
          <a:lstStyle/>
          <a:p>
            <a:pPr indent="0" lvl="0" marL="0" marR="0" rtl="0" algn="l">
              <a:lnSpc>
                <a:spcPct val="132013"/>
              </a:lnSpc>
              <a:spcBef>
                <a:spcPts val="0"/>
              </a:spcBef>
              <a:spcAft>
                <a:spcPts val="0"/>
              </a:spcAft>
              <a:buClr>
                <a:srgbClr val="1A202C"/>
              </a:buClr>
              <a:buSzPts val="2121"/>
              <a:buFont typeface="Montserrat"/>
              <a:buNone/>
            </a:pPr>
            <a:r>
              <a:rPr b="1" i="0" lang="en-US" sz="2121" u="none" cap="none" strike="noStrike">
                <a:solidFill>
                  <a:srgbClr val="1A202C"/>
                </a:solidFill>
                <a:latin typeface="Montserrat"/>
                <a:ea typeface="Montserrat"/>
                <a:cs typeface="Montserrat"/>
                <a:sym typeface="Montserrat"/>
              </a:rPr>
              <a:t>0</a:t>
            </a:r>
            <a:r>
              <a:rPr b="1" lang="en-US" sz="2121">
                <a:solidFill>
                  <a:srgbClr val="1A202C"/>
                </a:solidFill>
                <a:latin typeface="Montserrat"/>
                <a:ea typeface="Montserrat"/>
                <a:cs typeface="Montserrat"/>
                <a:sym typeface="Montserrat"/>
              </a:rPr>
              <a:t>7</a:t>
            </a:r>
            <a:r>
              <a:rPr b="1" i="0" lang="en-US" sz="2121" u="none" cap="none" strike="noStrike">
                <a:solidFill>
                  <a:srgbClr val="1A202C"/>
                </a:solidFill>
                <a:latin typeface="Montserrat"/>
                <a:ea typeface="Montserrat"/>
                <a:cs typeface="Montserrat"/>
                <a:sym typeface="Montserrat"/>
              </a:rPr>
              <a:t>. FORMATIONS ET COMPÉTENCES</a:t>
            </a:r>
            <a:endParaRPr b="0" i="0" sz="2121" u="none" cap="none" strike="noStrike">
              <a:solidFill>
                <a:schemeClr val="dk1"/>
              </a:solidFill>
              <a:latin typeface="Calibri"/>
              <a:ea typeface="Calibri"/>
              <a:cs typeface="Calibri"/>
              <a:sym typeface="Calibri"/>
            </a:endParaRPr>
          </a:p>
        </p:txBody>
      </p:sp>
      <p:pic>
        <p:nvPicPr>
          <p:cNvPr descr="preencoded.png" id="164" name="Google Shape;164;p8"/>
          <p:cNvPicPr preferRelativeResize="0"/>
          <p:nvPr/>
        </p:nvPicPr>
        <p:blipFill rotWithShape="1">
          <a:blip r:embed="rId4">
            <a:alphaModFix/>
          </a:blip>
          <a:srcRect b="0" l="0" r="0" t="0"/>
          <a:stretch/>
        </p:blipFill>
        <p:spPr>
          <a:xfrm>
            <a:off x="714375" y="1342132"/>
            <a:ext cx="214313" cy="171450"/>
          </a:xfrm>
          <a:prstGeom prst="rect">
            <a:avLst/>
          </a:prstGeom>
          <a:noFill/>
          <a:ln>
            <a:noFill/>
          </a:ln>
        </p:spPr>
      </p:pic>
      <p:sp>
        <p:nvSpPr>
          <p:cNvPr id="165" name="Google Shape;165;p8"/>
          <p:cNvSpPr/>
          <p:nvPr/>
        </p:nvSpPr>
        <p:spPr>
          <a:xfrm>
            <a:off x="1035844" y="1323380"/>
            <a:ext cx="2075259"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Montserrat"/>
              <a:buNone/>
            </a:pPr>
            <a:r>
              <a:rPr b="1" i="0" lang="en-US" sz="1193" u="none" cap="none" strike="noStrike">
                <a:solidFill>
                  <a:srgbClr val="3182CE"/>
                </a:solidFill>
                <a:latin typeface="Montserrat"/>
                <a:ea typeface="Montserrat"/>
                <a:cs typeface="Montserrat"/>
                <a:sym typeface="Montserrat"/>
              </a:rPr>
              <a:t>PARCOURS SCOLAIRES</a:t>
            </a:r>
            <a:endParaRPr b="0" i="0" sz="1193" u="none" cap="none" strike="noStrike">
              <a:solidFill>
                <a:schemeClr val="dk1"/>
              </a:solidFill>
              <a:latin typeface="Calibri"/>
              <a:ea typeface="Calibri"/>
              <a:cs typeface="Calibri"/>
              <a:sym typeface="Calibri"/>
            </a:endParaRPr>
          </a:p>
        </p:txBody>
      </p:sp>
      <p:sp>
        <p:nvSpPr>
          <p:cNvPr id="166" name="Google Shape;166;p8"/>
          <p:cNvSpPr/>
          <p:nvPr/>
        </p:nvSpPr>
        <p:spPr>
          <a:xfrm>
            <a:off x="878681" y="1746647"/>
            <a:ext cx="3550444" cy="173236"/>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2D3748"/>
              </a:buClr>
              <a:buSzPts val="987"/>
              <a:buFont typeface="Inter"/>
              <a:buNone/>
            </a:pPr>
            <a:r>
              <a:rPr b="1" i="0" lang="en-US" sz="987" u="none" cap="none" strike="noStrike">
                <a:solidFill>
                  <a:srgbClr val="2D3748"/>
                </a:solidFill>
                <a:latin typeface="Inter"/>
                <a:ea typeface="Inter"/>
                <a:cs typeface="Inter"/>
                <a:sym typeface="Inter"/>
              </a:rPr>
              <a:t>ÉCOLES D'INGÉNIEURS</a:t>
            </a:r>
            <a:endParaRPr b="0" i="0" sz="987" u="none" cap="none" strike="noStrike">
              <a:solidFill>
                <a:schemeClr val="dk1"/>
              </a:solidFill>
              <a:latin typeface="Calibri"/>
              <a:ea typeface="Calibri"/>
              <a:cs typeface="Calibri"/>
              <a:sym typeface="Calibri"/>
            </a:endParaRPr>
          </a:p>
        </p:txBody>
      </p:sp>
      <p:sp>
        <p:nvSpPr>
          <p:cNvPr id="167" name="Google Shape;167;p8"/>
          <p:cNvSpPr/>
          <p:nvPr/>
        </p:nvSpPr>
        <p:spPr>
          <a:xfrm>
            <a:off x="878681" y="1919883"/>
            <a:ext cx="2902148" cy="137517"/>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718096"/>
              </a:buClr>
              <a:buSzPts val="834"/>
              <a:buFont typeface="Inter"/>
              <a:buNone/>
            </a:pPr>
            <a:r>
              <a:rPr b="0" i="0" lang="en-US" sz="834" u="none" cap="none" strike="noStrike">
                <a:solidFill>
                  <a:srgbClr val="718096"/>
                </a:solidFill>
                <a:latin typeface="Inter"/>
                <a:ea typeface="Inter"/>
                <a:cs typeface="Inter"/>
                <a:sym typeface="Inter"/>
              </a:rPr>
              <a:t>Cursus Bac+5 spécialisés (ex: EPITA, INSA, Télécom).</a:t>
            </a:r>
            <a:endParaRPr b="0" i="0" sz="834" u="none" cap="none" strike="noStrike">
              <a:solidFill>
                <a:schemeClr val="dk1"/>
              </a:solidFill>
              <a:latin typeface="Calibri"/>
              <a:ea typeface="Calibri"/>
              <a:cs typeface="Calibri"/>
              <a:sym typeface="Calibri"/>
            </a:endParaRPr>
          </a:p>
        </p:txBody>
      </p:sp>
      <p:sp>
        <p:nvSpPr>
          <p:cNvPr id="168" name="Google Shape;168;p8"/>
          <p:cNvSpPr/>
          <p:nvPr/>
        </p:nvSpPr>
        <p:spPr>
          <a:xfrm>
            <a:off x="878681" y="2271713"/>
            <a:ext cx="3550444" cy="173236"/>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2D3748"/>
              </a:buClr>
              <a:buSzPts val="987"/>
              <a:buFont typeface="Inter"/>
              <a:buNone/>
            </a:pPr>
            <a:r>
              <a:rPr b="1" i="0" lang="en-US" sz="987" u="none" cap="none" strike="noStrike">
                <a:solidFill>
                  <a:srgbClr val="2D3748"/>
                </a:solidFill>
                <a:latin typeface="Inter"/>
                <a:ea typeface="Inter"/>
                <a:cs typeface="Inter"/>
                <a:sym typeface="Inter"/>
              </a:rPr>
              <a:t>BTS / BUT INFORMATIQUE</a:t>
            </a:r>
            <a:endParaRPr b="0" i="0" sz="987" u="none" cap="none" strike="noStrike">
              <a:solidFill>
                <a:schemeClr val="dk1"/>
              </a:solidFill>
              <a:latin typeface="Calibri"/>
              <a:ea typeface="Calibri"/>
              <a:cs typeface="Calibri"/>
              <a:sym typeface="Calibri"/>
            </a:endParaRPr>
          </a:p>
        </p:txBody>
      </p:sp>
      <p:sp>
        <p:nvSpPr>
          <p:cNvPr id="169" name="Google Shape;169;p8"/>
          <p:cNvSpPr/>
          <p:nvPr/>
        </p:nvSpPr>
        <p:spPr>
          <a:xfrm>
            <a:off x="878681" y="2444948"/>
            <a:ext cx="2511028" cy="137517"/>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718096"/>
              </a:buClr>
              <a:buSzPts val="834"/>
              <a:buFont typeface="Inter"/>
              <a:buNone/>
            </a:pPr>
            <a:r>
              <a:rPr b="0" i="0" lang="en-US" sz="834" u="none" cap="none" strike="noStrike">
                <a:solidFill>
                  <a:srgbClr val="718096"/>
                </a:solidFill>
                <a:latin typeface="Inter"/>
                <a:ea typeface="Inter"/>
                <a:cs typeface="Inter"/>
                <a:sym typeface="Inter"/>
              </a:rPr>
              <a:t>Formations courtes (Bac+2/3) opérationnelles.</a:t>
            </a:r>
            <a:endParaRPr b="0" i="0" sz="834" u="none" cap="none" strike="noStrike">
              <a:solidFill>
                <a:schemeClr val="dk1"/>
              </a:solidFill>
              <a:latin typeface="Calibri"/>
              <a:ea typeface="Calibri"/>
              <a:cs typeface="Calibri"/>
              <a:sym typeface="Calibri"/>
            </a:endParaRPr>
          </a:p>
        </p:txBody>
      </p:sp>
      <p:sp>
        <p:nvSpPr>
          <p:cNvPr id="170" name="Google Shape;170;p8"/>
          <p:cNvSpPr/>
          <p:nvPr/>
        </p:nvSpPr>
        <p:spPr>
          <a:xfrm>
            <a:off x="878681" y="2796778"/>
            <a:ext cx="3550444" cy="173236"/>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2D3748"/>
              </a:buClr>
              <a:buSzPts val="987"/>
              <a:buFont typeface="Inter"/>
              <a:buNone/>
            </a:pPr>
            <a:r>
              <a:rPr b="1" i="0" lang="en-US" sz="987" u="none" cap="none" strike="noStrike">
                <a:solidFill>
                  <a:srgbClr val="2D3748"/>
                </a:solidFill>
                <a:latin typeface="Inter"/>
                <a:ea typeface="Inter"/>
                <a:cs typeface="Inter"/>
                <a:sym typeface="Inter"/>
              </a:rPr>
              <a:t>UNIVERSITÉS</a:t>
            </a:r>
            <a:endParaRPr b="0" i="0" sz="987" u="none" cap="none" strike="noStrike">
              <a:solidFill>
                <a:schemeClr val="dk1"/>
              </a:solidFill>
              <a:latin typeface="Calibri"/>
              <a:ea typeface="Calibri"/>
              <a:cs typeface="Calibri"/>
              <a:sym typeface="Calibri"/>
            </a:endParaRPr>
          </a:p>
        </p:txBody>
      </p:sp>
      <p:sp>
        <p:nvSpPr>
          <p:cNvPr id="171" name="Google Shape;171;p8"/>
          <p:cNvSpPr/>
          <p:nvPr/>
        </p:nvSpPr>
        <p:spPr>
          <a:xfrm>
            <a:off x="878681" y="2970014"/>
            <a:ext cx="2611041" cy="137517"/>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718096"/>
              </a:buClr>
              <a:buSzPts val="834"/>
              <a:buFont typeface="Inter"/>
              <a:buNone/>
            </a:pPr>
            <a:r>
              <a:rPr b="0" i="0" lang="en-US" sz="834" u="none" cap="none" strike="noStrike">
                <a:solidFill>
                  <a:srgbClr val="718096"/>
                </a:solidFill>
                <a:latin typeface="Inter"/>
                <a:ea typeface="Inter"/>
                <a:cs typeface="Inter"/>
                <a:sym typeface="Inter"/>
              </a:rPr>
              <a:t>Licences et Masters en Sciences du Numérique.</a:t>
            </a:r>
            <a:endParaRPr b="0" i="0" sz="834" u="none" cap="none" strike="noStrike">
              <a:solidFill>
                <a:schemeClr val="dk1"/>
              </a:solidFill>
              <a:latin typeface="Calibri"/>
              <a:ea typeface="Calibri"/>
              <a:cs typeface="Calibri"/>
              <a:sym typeface="Calibri"/>
            </a:endParaRPr>
          </a:p>
        </p:txBody>
      </p:sp>
      <p:sp>
        <p:nvSpPr>
          <p:cNvPr id="172" name="Google Shape;172;p8"/>
          <p:cNvSpPr/>
          <p:nvPr/>
        </p:nvSpPr>
        <p:spPr>
          <a:xfrm>
            <a:off x="4857750" y="1323380"/>
            <a:ext cx="3714750" cy="2404932"/>
          </a:xfrm>
          <a:prstGeom prst="rect">
            <a:avLst/>
          </a:prstGeom>
          <a:solidFill>
            <a:srgbClr val="F7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4857750" y="1323380"/>
            <a:ext cx="3714750" cy="57150"/>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4" name="Google Shape;174;p8"/>
          <p:cNvPicPr preferRelativeResize="0"/>
          <p:nvPr/>
        </p:nvPicPr>
        <p:blipFill rotWithShape="1">
          <a:blip r:embed="rId5">
            <a:alphaModFix/>
          </a:blip>
          <a:srcRect b="0" l="0" r="0" t="0"/>
          <a:stretch/>
        </p:blipFill>
        <p:spPr>
          <a:xfrm>
            <a:off x="5143500" y="1627882"/>
            <a:ext cx="128588" cy="171450"/>
          </a:xfrm>
          <a:prstGeom prst="rect">
            <a:avLst/>
          </a:prstGeom>
          <a:noFill/>
          <a:ln>
            <a:noFill/>
          </a:ln>
        </p:spPr>
      </p:pic>
      <p:sp>
        <p:nvSpPr>
          <p:cNvPr id="175" name="Google Shape;175;p8"/>
          <p:cNvSpPr/>
          <p:nvPr/>
        </p:nvSpPr>
        <p:spPr>
          <a:xfrm>
            <a:off x="5379244" y="1609130"/>
            <a:ext cx="1873448"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3182CE"/>
              </a:buClr>
              <a:buSzPts val="1193"/>
              <a:buFont typeface="Montserrat"/>
              <a:buNone/>
            </a:pPr>
            <a:r>
              <a:rPr b="1" i="0" lang="en-US" sz="1193" u="none" cap="none" strike="noStrike">
                <a:solidFill>
                  <a:srgbClr val="3182CE"/>
                </a:solidFill>
                <a:latin typeface="Montserrat"/>
                <a:ea typeface="Montserrat"/>
                <a:cs typeface="Montserrat"/>
                <a:sym typeface="Montserrat"/>
              </a:rPr>
              <a:t>COMPÉTENCES CLÉS</a:t>
            </a:r>
            <a:endParaRPr b="0" i="0" sz="1193" u="none" cap="none" strike="noStrike">
              <a:solidFill>
                <a:schemeClr val="dk1"/>
              </a:solidFill>
              <a:latin typeface="Calibri"/>
              <a:ea typeface="Calibri"/>
              <a:cs typeface="Calibri"/>
              <a:sym typeface="Calibri"/>
            </a:endParaRPr>
          </a:p>
        </p:txBody>
      </p:sp>
      <p:sp>
        <p:nvSpPr>
          <p:cNvPr id="176" name="Google Shape;176;p8"/>
          <p:cNvSpPr/>
          <p:nvPr/>
        </p:nvSpPr>
        <p:spPr>
          <a:xfrm>
            <a:off x="5143500" y="1960959"/>
            <a:ext cx="3143250"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4A5568"/>
              </a:buClr>
              <a:buSzPts val="942"/>
              <a:buFont typeface="Inter"/>
              <a:buNone/>
            </a:pPr>
            <a:r>
              <a:rPr b="0" i="0" lang="en-US" sz="942" u="none" cap="none" strike="noStrike">
                <a:solidFill>
                  <a:srgbClr val="4A5568"/>
                </a:solidFill>
                <a:latin typeface="Inter"/>
                <a:ea typeface="Inter"/>
                <a:cs typeface="Inter"/>
                <a:sym typeface="Inter"/>
              </a:rPr>
              <a:t>Au-delà de la technique, le marché du travail valorise des profils hybrides et adaptables.</a:t>
            </a:r>
            <a:endParaRPr b="0" i="0" sz="942" u="none" cap="none" strike="noStrike">
              <a:solidFill>
                <a:schemeClr val="dk1"/>
              </a:solidFill>
              <a:latin typeface="Calibri"/>
              <a:ea typeface="Calibri"/>
              <a:cs typeface="Calibri"/>
              <a:sym typeface="Calibri"/>
            </a:endParaRPr>
          </a:p>
        </p:txBody>
      </p:sp>
      <p:sp>
        <p:nvSpPr>
          <p:cNvPr id="177" name="Google Shape;177;p8"/>
          <p:cNvSpPr/>
          <p:nvPr/>
        </p:nvSpPr>
        <p:spPr>
          <a:xfrm>
            <a:off x="5143500" y="2535306"/>
            <a:ext cx="1021556" cy="235744"/>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p:nvPr/>
        </p:nvSpPr>
        <p:spPr>
          <a:xfrm>
            <a:off x="5143500" y="2535306"/>
            <a:ext cx="1021556" cy="235744"/>
          </a:xfrm>
          <a:prstGeom prst="rect">
            <a:avLst/>
          </a:prstGeom>
          <a:noFill/>
          <a:ln>
            <a:noFill/>
          </a:ln>
        </p:spPr>
        <p:txBody>
          <a:bodyPr anchorCtr="0" anchor="t" bIns="68050" lIns="127500" spcFirstLastPara="1" rIns="127500" wrap="square" tIns="68050">
            <a:spAutoFit/>
          </a:bodyPr>
          <a:lstStyle/>
          <a:p>
            <a:pPr indent="0" lvl="0" marL="0" marR="0" rtl="0" algn="l">
              <a:lnSpc>
                <a:spcPct val="131771"/>
              </a:lnSpc>
              <a:spcBef>
                <a:spcPts val="0"/>
              </a:spcBef>
              <a:spcAft>
                <a:spcPts val="0"/>
              </a:spcAft>
              <a:buClr>
                <a:srgbClr val="FFFFFF"/>
              </a:buClr>
              <a:buSzPts val="683"/>
              <a:buFont typeface="Inter"/>
              <a:buNone/>
            </a:pPr>
            <a:r>
              <a:rPr b="1" i="0" lang="en-US" sz="683" u="none" cap="none" strike="noStrike">
                <a:solidFill>
                  <a:srgbClr val="FFFFFF"/>
                </a:solidFill>
                <a:latin typeface="Inter"/>
                <a:ea typeface="Inter"/>
                <a:cs typeface="Inter"/>
                <a:sym typeface="Inter"/>
              </a:rPr>
              <a:t>ADAPTABILITÉ</a:t>
            </a:r>
            <a:endParaRPr b="0" i="0" sz="683" u="none" cap="none" strike="noStrike">
              <a:solidFill>
                <a:schemeClr val="dk1"/>
              </a:solidFill>
              <a:latin typeface="Calibri"/>
              <a:ea typeface="Calibri"/>
              <a:cs typeface="Calibri"/>
              <a:sym typeface="Calibri"/>
            </a:endParaRPr>
          </a:p>
        </p:txBody>
      </p:sp>
      <p:sp>
        <p:nvSpPr>
          <p:cNvPr id="179" name="Google Shape;179;p8"/>
          <p:cNvSpPr/>
          <p:nvPr/>
        </p:nvSpPr>
        <p:spPr>
          <a:xfrm>
            <a:off x="6268641" y="2535306"/>
            <a:ext cx="1171575" cy="235744"/>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6268641" y="2535306"/>
            <a:ext cx="1171575" cy="235744"/>
          </a:xfrm>
          <a:prstGeom prst="rect">
            <a:avLst/>
          </a:prstGeom>
          <a:noFill/>
          <a:ln>
            <a:noFill/>
          </a:ln>
        </p:spPr>
        <p:txBody>
          <a:bodyPr anchorCtr="0" anchor="t" bIns="68050" lIns="127500" spcFirstLastPara="1" rIns="127500" wrap="square" tIns="68050">
            <a:spAutoFit/>
          </a:bodyPr>
          <a:lstStyle/>
          <a:p>
            <a:pPr indent="0" lvl="0" marL="0" marR="0" rtl="0" algn="l">
              <a:lnSpc>
                <a:spcPct val="131771"/>
              </a:lnSpc>
              <a:spcBef>
                <a:spcPts val="0"/>
              </a:spcBef>
              <a:spcAft>
                <a:spcPts val="0"/>
              </a:spcAft>
              <a:buClr>
                <a:srgbClr val="FFFFFF"/>
              </a:buClr>
              <a:buSzPts val="683"/>
              <a:buFont typeface="Inter"/>
              <a:buNone/>
            </a:pPr>
            <a:r>
              <a:rPr b="1" i="0" lang="en-US" sz="683" u="none" cap="none" strike="noStrike">
                <a:solidFill>
                  <a:srgbClr val="FFFFFF"/>
                </a:solidFill>
                <a:latin typeface="Inter"/>
                <a:ea typeface="Inter"/>
                <a:cs typeface="Inter"/>
                <a:sym typeface="Inter"/>
              </a:rPr>
              <a:t>ESPRIT CRITIQUE</a:t>
            </a:r>
            <a:endParaRPr b="0" i="0" sz="683" u="none" cap="none" strike="noStrike">
              <a:solidFill>
                <a:schemeClr val="dk1"/>
              </a:solidFill>
              <a:latin typeface="Calibri"/>
              <a:ea typeface="Calibri"/>
              <a:cs typeface="Calibri"/>
              <a:sym typeface="Calibri"/>
            </a:endParaRPr>
          </a:p>
        </p:txBody>
      </p:sp>
      <p:sp>
        <p:nvSpPr>
          <p:cNvPr id="181" name="Google Shape;181;p8"/>
          <p:cNvSpPr/>
          <p:nvPr/>
        </p:nvSpPr>
        <p:spPr>
          <a:xfrm>
            <a:off x="5143500" y="2842487"/>
            <a:ext cx="1169789" cy="235744"/>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p:nvPr/>
        </p:nvSpPr>
        <p:spPr>
          <a:xfrm>
            <a:off x="5143500" y="2842487"/>
            <a:ext cx="1169789" cy="235744"/>
          </a:xfrm>
          <a:prstGeom prst="rect">
            <a:avLst/>
          </a:prstGeom>
          <a:noFill/>
          <a:ln>
            <a:noFill/>
          </a:ln>
        </p:spPr>
        <p:txBody>
          <a:bodyPr anchorCtr="0" anchor="t" bIns="68050" lIns="127500" spcFirstLastPara="1" rIns="127500" wrap="square" tIns="68050">
            <a:spAutoFit/>
          </a:bodyPr>
          <a:lstStyle/>
          <a:p>
            <a:pPr indent="0" lvl="0" marL="0" marR="0" rtl="0" algn="l">
              <a:lnSpc>
                <a:spcPct val="131771"/>
              </a:lnSpc>
              <a:spcBef>
                <a:spcPts val="0"/>
              </a:spcBef>
              <a:spcAft>
                <a:spcPts val="0"/>
              </a:spcAft>
              <a:buClr>
                <a:srgbClr val="FFFFFF"/>
              </a:buClr>
              <a:buSzPts val="683"/>
              <a:buFont typeface="Inter"/>
              <a:buNone/>
            </a:pPr>
            <a:r>
              <a:rPr b="1" i="0" lang="en-US" sz="683" u="none" cap="none" strike="noStrike">
                <a:solidFill>
                  <a:srgbClr val="FFFFFF"/>
                </a:solidFill>
                <a:latin typeface="Inter"/>
                <a:ea typeface="Inter"/>
                <a:cs typeface="Inter"/>
                <a:sym typeface="Inter"/>
              </a:rPr>
              <a:t>COLLABORATION</a:t>
            </a:r>
            <a:endParaRPr b="0" i="0" sz="683" u="none" cap="none" strike="noStrike">
              <a:solidFill>
                <a:schemeClr val="dk1"/>
              </a:solidFill>
              <a:latin typeface="Calibri"/>
              <a:ea typeface="Calibri"/>
              <a:cs typeface="Calibri"/>
              <a:sym typeface="Calibri"/>
            </a:endParaRPr>
          </a:p>
        </p:txBody>
      </p:sp>
      <p:sp>
        <p:nvSpPr>
          <p:cNvPr id="183" name="Google Shape;183;p8"/>
          <p:cNvSpPr/>
          <p:nvPr/>
        </p:nvSpPr>
        <p:spPr>
          <a:xfrm>
            <a:off x="6416873" y="2842487"/>
            <a:ext cx="1594842" cy="235744"/>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6416873" y="2842487"/>
            <a:ext cx="1594842" cy="235744"/>
          </a:xfrm>
          <a:prstGeom prst="rect">
            <a:avLst/>
          </a:prstGeom>
          <a:noFill/>
          <a:ln>
            <a:noFill/>
          </a:ln>
        </p:spPr>
        <p:txBody>
          <a:bodyPr anchorCtr="0" anchor="t" bIns="68050" lIns="127500" spcFirstLastPara="1" rIns="127500" wrap="square" tIns="68050">
            <a:spAutoFit/>
          </a:bodyPr>
          <a:lstStyle/>
          <a:p>
            <a:pPr indent="0" lvl="0" marL="0" marR="0" rtl="0" algn="l">
              <a:lnSpc>
                <a:spcPct val="131771"/>
              </a:lnSpc>
              <a:spcBef>
                <a:spcPts val="0"/>
              </a:spcBef>
              <a:spcAft>
                <a:spcPts val="0"/>
              </a:spcAft>
              <a:buClr>
                <a:srgbClr val="FFFFFF"/>
              </a:buClr>
              <a:buSzPts val="683"/>
              <a:buFont typeface="Inter"/>
              <a:buNone/>
            </a:pPr>
            <a:r>
              <a:rPr b="1" i="0" lang="en-US" sz="683" u="none" cap="none" strike="noStrike">
                <a:solidFill>
                  <a:srgbClr val="FFFFFF"/>
                </a:solidFill>
                <a:latin typeface="Inter"/>
                <a:ea typeface="Inter"/>
                <a:cs typeface="Inter"/>
                <a:sym typeface="Inter"/>
              </a:rPr>
              <a:t>VEILLE TECHNOLOGIQUE</a:t>
            </a:r>
            <a:endParaRPr b="0" i="0" sz="683" u="none" cap="none" strike="noStrike">
              <a:solidFill>
                <a:schemeClr val="dk1"/>
              </a:solidFill>
              <a:latin typeface="Calibri"/>
              <a:ea typeface="Calibri"/>
              <a:cs typeface="Calibri"/>
              <a:sym typeface="Calibri"/>
            </a:endParaRPr>
          </a:p>
        </p:txBody>
      </p:sp>
      <p:sp>
        <p:nvSpPr>
          <p:cNvPr id="185" name="Google Shape;185;p8"/>
          <p:cNvSpPr/>
          <p:nvPr/>
        </p:nvSpPr>
        <p:spPr>
          <a:xfrm>
            <a:off x="5143500" y="3149668"/>
            <a:ext cx="1412677" cy="235744"/>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a:off x="5143500" y="3149668"/>
            <a:ext cx="1412677" cy="235744"/>
          </a:xfrm>
          <a:prstGeom prst="rect">
            <a:avLst/>
          </a:prstGeom>
          <a:noFill/>
          <a:ln>
            <a:noFill/>
          </a:ln>
        </p:spPr>
        <p:txBody>
          <a:bodyPr anchorCtr="0" anchor="t" bIns="68050" lIns="127500" spcFirstLastPara="1" rIns="127500" wrap="square" tIns="68050">
            <a:spAutoFit/>
          </a:bodyPr>
          <a:lstStyle/>
          <a:p>
            <a:pPr indent="0" lvl="0" marL="0" marR="0" rtl="0" algn="l">
              <a:lnSpc>
                <a:spcPct val="131771"/>
              </a:lnSpc>
              <a:spcBef>
                <a:spcPts val="0"/>
              </a:spcBef>
              <a:spcAft>
                <a:spcPts val="0"/>
              </a:spcAft>
              <a:buClr>
                <a:srgbClr val="FFFFFF"/>
              </a:buClr>
              <a:buSzPts val="683"/>
              <a:buFont typeface="Inter"/>
              <a:buNone/>
            </a:pPr>
            <a:r>
              <a:rPr b="1" i="0" lang="en-US" sz="683" u="none" cap="none" strike="noStrike">
                <a:solidFill>
                  <a:srgbClr val="FFFFFF"/>
                </a:solidFill>
                <a:latin typeface="Inter"/>
                <a:ea typeface="Inter"/>
                <a:cs typeface="Inter"/>
                <a:sym typeface="Inter"/>
              </a:rPr>
              <a:t>ÉTHIQUE NUMÉRIQUE</a:t>
            </a:r>
            <a:endParaRPr b="0" i="0" sz="683"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preencoded.png" id="192" name="Google Shape;192;p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93" name="Google Shape;193;p9"/>
          <p:cNvSpPr/>
          <p:nvPr/>
        </p:nvSpPr>
        <p:spPr>
          <a:xfrm>
            <a:off x="4214813" y="882253"/>
            <a:ext cx="714375" cy="35719"/>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1559123" y="428625"/>
            <a:ext cx="6025753" cy="417909"/>
          </a:xfrm>
          <a:prstGeom prst="rect">
            <a:avLst/>
          </a:prstGeom>
          <a:noFill/>
          <a:ln>
            <a:noFill/>
          </a:ln>
        </p:spPr>
        <p:txBody>
          <a:bodyPr anchorCtr="0" anchor="t" bIns="0" lIns="0" spcFirstLastPara="1" rIns="0" wrap="square" tIns="0">
            <a:spAutoFit/>
          </a:bodyPr>
          <a:lstStyle/>
          <a:p>
            <a:pPr indent="0" lvl="0" marL="0" marR="0" rtl="0" algn="ctr">
              <a:lnSpc>
                <a:spcPct val="131362"/>
              </a:lnSpc>
              <a:spcBef>
                <a:spcPts val="0"/>
              </a:spcBef>
              <a:spcAft>
                <a:spcPts val="0"/>
              </a:spcAft>
              <a:buClr>
                <a:srgbClr val="1A202C"/>
              </a:buClr>
              <a:buSzPts val="2436"/>
              <a:buFont typeface="Montserrat"/>
              <a:buNone/>
            </a:pPr>
            <a:r>
              <a:rPr b="1" i="0" lang="en-US" sz="2436" u="none" cap="none" strike="noStrike">
                <a:solidFill>
                  <a:srgbClr val="1A202C"/>
                </a:solidFill>
                <a:latin typeface="Montserrat"/>
                <a:ea typeface="Montserrat"/>
                <a:cs typeface="Montserrat"/>
                <a:sym typeface="Montserrat"/>
              </a:rPr>
              <a:t>CONCLUSION &amp; AVIS PERSONNEL</a:t>
            </a:r>
            <a:endParaRPr b="0" i="0" sz="2436" u="none" cap="none" strike="noStrike">
              <a:solidFill>
                <a:schemeClr val="dk1"/>
              </a:solidFill>
              <a:latin typeface="Calibri"/>
              <a:ea typeface="Calibri"/>
              <a:cs typeface="Calibri"/>
              <a:sym typeface="Calibri"/>
            </a:endParaRPr>
          </a:p>
        </p:txBody>
      </p:sp>
      <p:sp>
        <p:nvSpPr>
          <p:cNvPr id="195" name="Google Shape;195;p9"/>
          <p:cNvSpPr/>
          <p:nvPr/>
        </p:nvSpPr>
        <p:spPr>
          <a:xfrm>
            <a:off x="571500" y="1275159"/>
            <a:ext cx="3786188" cy="2400300"/>
          </a:xfrm>
          <a:prstGeom prst="rect">
            <a:avLst/>
          </a:prstGeom>
          <a:solidFill>
            <a:srgbClr val="F7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571500" y="1275159"/>
            <a:ext cx="3786188" cy="42863"/>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7" name="Google Shape;197;p9"/>
          <p:cNvPicPr preferRelativeResize="0"/>
          <p:nvPr/>
        </p:nvPicPr>
        <p:blipFill rotWithShape="1">
          <a:blip r:embed="rId4">
            <a:alphaModFix/>
          </a:blip>
          <a:srcRect b="0" l="0" r="0" t="0"/>
          <a:stretch/>
        </p:blipFill>
        <p:spPr>
          <a:xfrm>
            <a:off x="785813" y="1508224"/>
            <a:ext cx="171450" cy="171450"/>
          </a:xfrm>
          <a:prstGeom prst="rect">
            <a:avLst/>
          </a:prstGeom>
          <a:noFill/>
          <a:ln>
            <a:noFill/>
          </a:ln>
        </p:spPr>
      </p:pic>
      <p:sp>
        <p:nvSpPr>
          <p:cNvPr id="198" name="Google Shape;198;p9"/>
          <p:cNvSpPr/>
          <p:nvPr/>
        </p:nvSpPr>
        <p:spPr>
          <a:xfrm>
            <a:off x="1064419" y="1489472"/>
            <a:ext cx="942975"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1A202C"/>
              </a:buClr>
              <a:buSzPts val="1193"/>
              <a:buFont typeface="Montserrat"/>
              <a:buNone/>
            </a:pPr>
            <a:r>
              <a:rPr b="1" i="0" lang="en-US" sz="1193" u="none" cap="none" strike="noStrike">
                <a:solidFill>
                  <a:srgbClr val="1A202C"/>
                </a:solidFill>
                <a:latin typeface="Montserrat"/>
                <a:ea typeface="Montserrat"/>
                <a:cs typeface="Montserrat"/>
                <a:sym typeface="Montserrat"/>
              </a:rPr>
              <a:t>SYNTHÈSE</a:t>
            </a:r>
            <a:endParaRPr b="0" i="0" sz="1193" u="none" cap="none" strike="noStrike">
              <a:solidFill>
                <a:schemeClr val="dk1"/>
              </a:solidFill>
              <a:latin typeface="Calibri"/>
              <a:ea typeface="Calibri"/>
              <a:cs typeface="Calibri"/>
              <a:sym typeface="Calibri"/>
            </a:endParaRPr>
          </a:p>
        </p:txBody>
      </p:sp>
      <p:pic>
        <p:nvPicPr>
          <p:cNvPr descr="preencoded.png" id="199" name="Google Shape;199;p9"/>
          <p:cNvPicPr preferRelativeResize="0"/>
          <p:nvPr/>
        </p:nvPicPr>
        <p:blipFill rotWithShape="1">
          <a:blip r:embed="rId5">
            <a:alphaModFix/>
          </a:blip>
          <a:srcRect b="0" l="0" r="0" t="0"/>
          <a:stretch/>
        </p:blipFill>
        <p:spPr>
          <a:xfrm>
            <a:off x="785813" y="1877020"/>
            <a:ext cx="100013" cy="100013"/>
          </a:xfrm>
          <a:prstGeom prst="rect">
            <a:avLst/>
          </a:prstGeom>
          <a:noFill/>
          <a:ln>
            <a:noFill/>
          </a:ln>
        </p:spPr>
      </p:pic>
      <p:sp>
        <p:nvSpPr>
          <p:cNvPr id="200" name="Google Shape;200;p9"/>
          <p:cNvSpPr/>
          <p:nvPr/>
        </p:nvSpPr>
        <p:spPr>
          <a:xfrm>
            <a:off x="957263" y="1841302"/>
            <a:ext cx="3186113" cy="385763"/>
          </a:xfrm>
          <a:prstGeom prst="rect">
            <a:avLst/>
          </a:prstGeom>
          <a:noFill/>
          <a:ln>
            <a:noFill/>
          </a:ln>
        </p:spPr>
        <p:txBody>
          <a:bodyPr anchorCtr="0" anchor="t" bIns="0" lIns="0" spcFirstLastPara="1" rIns="0" wrap="square" tIns="0">
            <a:spAutoFit/>
          </a:bodyPr>
          <a:lstStyle/>
          <a:p>
            <a:pPr indent="0" lvl="0" marL="0" marR="0" rtl="0" algn="l">
              <a:lnSpc>
                <a:spcPct val="159235"/>
              </a:lnSpc>
              <a:spcBef>
                <a:spcPts val="0"/>
              </a:spcBef>
              <a:spcAft>
                <a:spcPts val="0"/>
              </a:spcAft>
              <a:buClr>
                <a:srgbClr val="2D3748"/>
              </a:buClr>
              <a:buSzPts val="942"/>
              <a:buFont typeface="Inter"/>
              <a:buNone/>
            </a:pPr>
            <a:r>
              <a:rPr b="0" i="0" lang="en-US" sz="942" u="none" cap="none" strike="noStrike">
                <a:solidFill>
                  <a:srgbClr val="2D3748"/>
                </a:solidFill>
                <a:latin typeface="Inter"/>
                <a:ea typeface="Inter"/>
                <a:cs typeface="Inter"/>
                <a:sym typeface="Inter"/>
              </a:rPr>
              <a:t>Les GAFAM sont des outils puissants mais hégémoniques.</a:t>
            </a:r>
            <a:endParaRPr b="0" i="0" sz="942" u="none" cap="none" strike="noStrike">
              <a:solidFill>
                <a:schemeClr val="dk1"/>
              </a:solidFill>
              <a:latin typeface="Calibri"/>
              <a:ea typeface="Calibri"/>
              <a:cs typeface="Calibri"/>
              <a:sym typeface="Calibri"/>
            </a:endParaRPr>
          </a:p>
        </p:txBody>
      </p:sp>
      <p:pic>
        <p:nvPicPr>
          <p:cNvPr descr="preencoded.png" id="201" name="Google Shape;201;p9"/>
          <p:cNvPicPr preferRelativeResize="0"/>
          <p:nvPr/>
        </p:nvPicPr>
        <p:blipFill rotWithShape="1">
          <a:blip r:embed="rId5">
            <a:alphaModFix/>
          </a:blip>
          <a:srcRect b="0" l="0" r="0" t="0"/>
          <a:stretch/>
        </p:blipFill>
        <p:spPr>
          <a:xfrm>
            <a:off x="785813" y="2369939"/>
            <a:ext cx="100013" cy="100013"/>
          </a:xfrm>
          <a:prstGeom prst="rect">
            <a:avLst/>
          </a:prstGeom>
          <a:noFill/>
          <a:ln>
            <a:noFill/>
          </a:ln>
        </p:spPr>
      </p:pic>
      <p:sp>
        <p:nvSpPr>
          <p:cNvPr id="202" name="Google Shape;202;p9"/>
          <p:cNvSpPr/>
          <p:nvPr/>
        </p:nvSpPr>
        <p:spPr>
          <a:xfrm>
            <a:off x="957263" y="2334220"/>
            <a:ext cx="2725341" cy="192881"/>
          </a:xfrm>
          <a:prstGeom prst="rect">
            <a:avLst/>
          </a:prstGeom>
          <a:noFill/>
          <a:ln>
            <a:noFill/>
          </a:ln>
        </p:spPr>
        <p:txBody>
          <a:bodyPr anchorCtr="0" anchor="t" bIns="0" lIns="0" spcFirstLastPara="1" rIns="0" wrap="square" tIns="0">
            <a:spAutoFit/>
          </a:bodyPr>
          <a:lstStyle/>
          <a:p>
            <a:pPr indent="0" lvl="0" marL="0" marR="0" rtl="0" algn="l">
              <a:lnSpc>
                <a:spcPct val="159235"/>
              </a:lnSpc>
              <a:spcBef>
                <a:spcPts val="0"/>
              </a:spcBef>
              <a:spcAft>
                <a:spcPts val="0"/>
              </a:spcAft>
              <a:buClr>
                <a:srgbClr val="2D3748"/>
              </a:buClr>
              <a:buSzPts val="942"/>
              <a:buFont typeface="Inter"/>
              <a:buNone/>
            </a:pPr>
            <a:r>
              <a:rPr b="0" i="0" lang="en-US" sz="942" u="none" cap="none" strike="noStrike">
                <a:solidFill>
                  <a:srgbClr val="2D3748"/>
                </a:solidFill>
                <a:latin typeface="Inter"/>
                <a:ea typeface="Inter"/>
                <a:cs typeface="Inter"/>
                <a:sym typeface="Inter"/>
              </a:rPr>
              <a:t>Nécessité d'une régulation forte (DMA/DSA).</a:t>
            </a:r>
            <a:endParaRPr b="0" i="0" sz="942" u="none" cap="none" strike="noStrike">
              <a:solidFill>
                <a:schemeClr val="dk1"/>
              </a:solidFill>
              <a:latin typeface="Calibri"/>
              <a:ea typeface="Calibri"/>
              <a:cs typeface="Calibri"/>
              <a:sym typeface="Calibri"/>
            </a:endParaRPr>
          </a:p>
        </p:txBody>
      </p:sp>
      <p:pic>
        <p:nvPicPr>
          <p:cNvPr descr="preencoded.png" id="203" name="Google Shape;203;p9"/>
          <p:cNvPicPr preferRelativeResize="0"/>
          <p:nvPr/>
        </p:nvPicPr>
        <p:blipFill rotWithShape="1">
          <a:blip r:embed="rId5">
            <a:alphaModFix/>
          </a:blip>
          <a:srcRect b="0" l="0" r="0" t="0"/>
          <a:stretch/>
        </p:blipFill>
        <p:spPr>
          <a:xfrm>
            <a:off x="785813" y="2669977"/>
            <a:ext cx="100013" cy="100013"/>
          </a:xfrm>
          <a:prstGeom prst="rect">
            <a:avLst/>
          </a:prstGeom>
          <a:noFill/>
          <a:ln>
            <a:noFill/>
          </a:ln>
        </p:spPr>
      </p:pic>
      <p:sp>
        <p:nvSpPr>
          <p:cNvPr id="204" name="Google Shape;204;p9"/>
          <p:cNvSpPr/>
          <p:nvPr/>
        </p:nvSpPr>
        <p:spPr>
          <a:xfrm>
            <a:off x="957263" y="2634258"/>
            <a:ext cx="3159323" cy="192881"/>
          </a:xfrm>
          <a:prstGeom prst="rect">
            <a:avLst/>
          </a:prstGeom>
          <a:noFill/>
          <a:ln>
            <a:noFill/>
          </a:ln>
        </p:spPr>
        <p:txBody>
          <a:bodyPr anchorCtr="0" anchor="t" bIns="0" lIns="0" spcFirstLastPara="1" rIns="0" wrap="square" tIns="0">
            <a:spAutoFit/>
          </a:bodyPr>
          <a:lstStyle/>
          <a:p>
            <a:pPr indent="0" lvl="0" marL="0" marR="0" rtl="0" algn="l">
              <a:lnSpc>
                <a:spcPct val="159235"/>
              </a:lnSpc>
              <a:spcBef>
                <a:spcPts val="0"/>
              </a:spcBef>
              <a:spcAft>
                <a:spcPts val="0"/>
              </a:spcAft>
              <a:buClr>
                <a:srgbClr val="2D3748"/>
              </a:buClr>
              <a:buSzPts val="942"/>
              <a:buFont typeface="Inter"/>
              <a:buNone/>
            </a:pPr>
            <a:r>
              <a:rPr b="0" i="0" lang="en-US" sz="942" u="none" cap="none" strike="noStrike">
                <a:solidFill>
                  <a:srgbClr val="2D3748"/>
                </a:solidFill>
                <a:latin typeface="Inter"/>
                <a:ea typeface="Inter"/>
                <a:cs typeface="Inter"/>
                <a:sym typeface="Inter"/>
              </a:rPr>
              <a:t>Importance de l'esprit critique et de la souveraineté.</a:t>
            </a:r>
            <a:endParaRPr b="0" i="0" sz="942" u="none" cap="none" strike="noStrike">
              <a:solidFill>
                <a:schemeClr val="dk1"/>
              </a:solidFill>
              <a:latin typeface="Calibri"/>
              <a:ea typeface="Calibri"/>
              <a:cs typeface="Calibri"/>
              <a:sym typeface="Calibri"/>
            </a:endParaRPr>
          </a:p>
        </p:txBody>
      </p:sp>
      <p:sp>
        <p:nvSpPr>
          <p:cNvPr id="205" name="Google Shape;205;p9"/>
          <p:cNvSpPr/>
          <p:nvPr/>
        </p:nvSpPr>
        <p:spPr>
          <a:xfrm>
            <a:off x="4786313" y="1275159"/>
            <a:ext cx="3786188" cy="2400300"/>
          </a:xfrm>
          <a:prstGeom prst="rect">
            <a:avLst/>
          </a:prstGeom>
          <a:solidFill>
            <a:srgbClr val="F7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4786313" y="1275159"/>
            <a:ext cx="3786188" cy="42863"/>
          </a:xfrm>
          <a:prstGeom prst="rect">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7" name="Google Shape;207;p9"/>
          <p:cNvPicPr preferRelativeResize="0"/>
          <p:nvPr/>
        </p:nvPicPr>
        <p:blipFill rotWithShape="1">
          <a:blip r:embed="rId6">
            <a:alphaModFix/>
          </a:blip>
          <a:srcRect b="0" l="0" r="0" t="0"/>
          <a:stretch/>
        </p:blipFill>
        <p:spPr>
          <a:xfrm>
            <a:off x="5000625" y="1508224"/>
            <a:ext cx="214313" cy="171450"/>
          </a:xfrm>
          <a:prstGeom prst="rect">
            <a:avLst/>
          </a:prstGeom>
          <a:noFill/>
          <a:ln>
            <a:noFill/>
          </a:ln>
        </p:spPr>
      </p:pic>
      <p:sp>
        <p:nvSpPr>
          <p:cNvPr id="208" name="Google Shape;208;p9"/>
          <p:cNvSpPr/>
          <p:nvPr/>
        </p:nvSpPr>
        <p:spPr>
          <a:xfrm>
            <a:off x="5322094" y="1489472"/>
            <a:ext cx="2280642" cy="208955"/>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1A202C"/>
              </a:buClr>
              <a:buSzPts val="1193"/>
              <a:buFont typeface="Montserrat"/>
              <a:buNone/>
            </a:pPr>
            <a:r>
              <a:rPr b="1" i="0" lang="en-US" sz="1193" u="none" cap="none" strike="noStrike">
                <a:solidFill>
                  <a:srgbClr val="1A202C"/>
                </a:solidFill>
                <a:latin typeface="Montserrat"/>
                <a:ea typeface="Montserrat"/>
                <a:cs typeface="Montserrat"/>
                <a:sym typeface="Montserrat"/>
              </a:rPr>
              <a:t>DÉMONSTRATION PERSO</a:t>
            </a:r>
            <a:endParaRPr b="0" i="0" sz="1193" u="none" cap="none" strike="noStrike">
              <a:solidFill>
                <a:schemeClr val="dk1"/>
              </a:solidFill>
              <a:latin typeface="Calibri"/>
              <a:ea typeface="Calibri"/>
              <a:cs typeface="Calibri"/>
              <a:sym typeface="Calibri"/>
            </a:endParaRPr>
          </a:p>
        </p:txBody>
      </p:sp>
      <p:pic>
        <p:nvPicPr>
          <p:cNvPr descr="preencoded.png" id="209" name="Google Shape;209;p9"/>
          <p:cNvPicPr preferRelativeResize="0"/>
          <p:nvPr/>
        </p:nvPicPr>
        <p:blipFill rotWithShape="1">
          <a:blip r:embed="rId7">
            <a:alphaModFix/>
          </a:blip>
          <a:srcRect b="0" l="0" r="0" t="0"/>
          <a:stretch/>
        </p:blipFill>
        <p:spPr>
          <a:xfrm>
            <a:off x="5000625" y="1877020"/>
            <a:ext cx="75009" cy="100013"/>
          </a:xfrm>
          <a:prstGeom prst="rect">
            <a:avLst/>
          </a:prstGeom>
          <a:noFill/>
          <a:ln>
            <a:noFill/>
          </a:ln>
        </p:spPr>
      </p:pic>
      <p:sp>
        <p:nvSpPr>
          <p:cNvPr id="210" name="Google Shape;210;p9"/>
          <p:cNvSpPr/>
          <p:nvPr/>
        </p:nvSpPr>
        <p:spPr>
          <a:xfrm>
            <a:off x="5147072" y="1841302"/>
            <a:ext cx="3211116" cy="385763"/>
          </a:xfrm>
          <a:prstGeom prst="rect">
            <a:avLst/>
          </a:prstGeom>
          <a:noFill/>
          <a:ln>
            <a:noFill/>
          </a:ln>
        </p:spPr>
        <p:txBody>
          <a:bodyPr anchorCtr="0" anchor="t" bIns="0" lIns="0" spcFirstLastPara="1" rIns="0" wrap="square" tIns="0">
            <a:spAutoFit/>
          </a:bodyPr>
          <a:lstStyle/>
          <a:p>
            <a:pPr indent="0" lvl="0" marL="0" marR="0" rtl="0" algn="l">
              <a:lnSpc>
                <a:spcPct val="159235"/>
              </a:lnSpc>
              <a:spcBef>
                <a:spcPts val="0"/>
              </a:spcBef>
              <a:spcAft>
                <a:spcPts val="0"/>
              </a:spcAft>
              <a:buClr>
                <a:srgbClr val="2D3748"/>
              </a:buClr>
              <a:buSzPts val="942"/>
              <a:buFont typeface="Inter"/>
              <a:buNone/>
            </a:pPr>
            <a:r>
              <a:rPr b="0" i="0" lang="en-US" sz="942" u="none" cap="none" strike="noStrike">
                <a:solidFill>
                  <a:srgbClr val="2D3748"/>
                </a:solidFill>
                <a:latin typeface="Inter"/>
                <a:ea typeface="Inter"/>
                <a:cs typeface="Inter"/>
                <a:sym typeface="Inter"/>
              </a:rPr>
              <a:t>Usage quotidien : Prise de conscience des algorithmes.</a:t>
            </a:r>
            <a:endParaRPr b="0" i="0" sz="942" u="none" cap="none" strike="noStrike">
              <a:solidFill>
                <a:schemeClr val="dk1"/>
              </a:solidFill>
              <a:latin typeface="Calibri"/>
              <a:ea typeface="Calibri"/>
              <a:cs typeface="Calibri"/>
              <a:sym typeface="Calibri"/>
            </a:endParaRPr>
          </a:p>
        </p:txBody>
      </p:sp>
      <p:pic>
        <p:nvPicPr>
          <p:cNvPr descr="preencoded.png" id="211" name="Google Shape;211;p9"/>
          <p:cNvPicPr preferRelativeResize="0"/>
          <p:nvPr/>
        </p:nvPicPr>
        <p:blipFill rotWithShape="1">
          <a:blip r:embed="rId7">
            <a:alphaModFix/>
          </a:blip>
          <a:srcRect b="0" l="0" r="0" t="0"/>
          <a:stretch/>
        </p:blipFill>
        <p:spPr>
          <a:xfrm>
            <a:off x="5000625" y="2369939"/>
            <a:ext cx="75009" cy="100013"/>
          </a:xfrm>
          <a:prstGeom prst="rect">
            <a:avLst/>
          </a:prstGeom>
          <a:noFill/>
          <a:ln>
            <a:noFill/>
          </a:ln>
        </p:spPr>
      </p:pic>
      <p:sp>
        <p:nvSpPr>
          <p:cNvPr id="212" name="Google Shape;212;p9"/>
          <p:cNvSpPr/>
          <p:nvPr/>
        </p:nvSpPr>
        <p:spPr>
          <a:xfrm>
            <a:off x="5147072" y="2334220"/>
            <a:ext cx="2839641" cy="192881"/>
          </a:xfrm>
          <a:prstGeom prst="rect">
            <a:avLst/>
          </a:prstGeom>
          <a:noFill/>
          <a:ln>
            <a:noFill/>
          </a:ln>
        </p:spPr>
        <p:txBody>
          <a:bodyPr anchorCtr="0" anchor="t" bIns="0" lIns="0" spcFirstLastPara="1" rIns="0" wrap="square" tIns="0">
            <a:spAutoFit/>
          </a:bodyPr>
          <a:lstStyle/>
          <a:p>
            <a:pPr indent="0" lvl="0" marL="0" marR="0" rtl="0" algn="l">
              <a:lnSpc>
                <a:spcPct val="159235"/>
              </a:lnSpc>
              <a:spcBef>
                <a:spcPts val="0"/>
              </a:spcBef>
              <a:spcAft>
                <a:spcPts val="0"/>
              </a:spcAft>
              <a:buClr>
                <a:srgbClr val="2D3748"/>
              </a:buClr>
              <a:buSzPts val="942"/>
              <a:buFont typeface="Inter"/>
              <a:buNone/>
            </a:pPr>
            <a:r>
              <a:rPr b="0" i="0" lang="en-US" sz="942" u="none" cap="none" strike="noStrike">
                <a:solidFill>
                  <a:srgbClr val="2D3748"/>
                </a:solidFill>
                <a:latin typeface="Inter"/>
                <a:ea typeface="Inter"/>
                <a:cs typeface="Inter"/>
                <a:sym typeface="Inter"/>
              </a:rPr>
              <a:t>Action concrète : Paramétrage de la vie privée.</a:t>
            </a:r>
            <a:endParaRPr b="0" i="0" sz="942" u="none" cap="none" strike="noStrike">
              <a:solidFill>
                <a:schemeClr val="dk1"/>
              </a:solidFill>
              <a:latin typeface="Calibri"/>
              <a:ea typeface="Calibri"/>
              <a:cs typeface="Calibri"/>
              <a:sym typeface="Calibri"/>
            </a:endParaRPr>
          </a:p>
        </p:txBody>
      </p:sp>
      <p:pic>
        <p:nvPicPr>
          <p:cNvPr descr="preencoded.png" id="213" name="Google Shape;213;p9"/>
          <p:cNvPicPr preferRelativeResize="0"/>
          <p:nvPr/>
        </p:nvPicPr>
        <p:blipFill rotWithShape="1">
          <a:blip r:embed="rId7">
            <a:alphaModFix/>
          </a:blip>
          <a:srcRect b="0" l="0" r="0" t="0"/>
          <a:stretch/>
        </p:blipFill>
        <p:spPr>
          <a:xfrm>
            <a:off x="5000625" y="2669977"/>
            <a:ext cx="75009" cy="100013"/>
          </a:xfrm>
          <a:prstGeom prst="rect">
            <a:avLst/>
          </a:prstGeom>
          <a:noFill/>
          <a:ln>
            <a:noFill/>
          </a:ln>
        </p:spPr>
      </p:pic>
      <p:sp>
        <p:nvSpPr>
          <p:cNvPr id="214" name="Google Shape;214;p9"/>
          <p:cNvSpPr/>
          <p:nvPr/>
        </p:nvSpPr>
        <p:spPr>
          <a:xfrm>
            <a:off x="5147072" y="2634258"/>
            <a:ext cx="3028950" cy="192881"/>
          </a:xfrm>
          <a:prstGeom prst="rect">
            <a:avLst/>
          </a:prstGeom>
          <a:noFill/>
          <a:ln>
            <a:noFill/>
          </a:ln>
        </p:spPr>
        <p:txBody>
          <a:bodyPr anchorCtr="0" anchor="t" bIns="0" lIns="0" spcFirstLastPara="1" rIns="0" wrap="square" tIns="0">
            <a:spAutoFit/>
          </a:bodyPr>
          <a:lstStyle/>
          <a:p>
            <a:pPr indent="0" lvl="0" marL="0" marR="0" rtl="0" algn="l">
              <a:lnSpc>
                <a:spcPct val="159235"/>
              </a:lnSpc>
              <a:spcBef>
                <a:spcPts val="0"/>
              </a:spcBef>
              <a:spcAft>
                <a:spcPts val="0"/>
              </a:spcAft>
              <a:buClr>
                <a:srgbClr val="2D3748"/>
              </a:buClr>
              <a:buSzPts val="942"/>
              <a:buFont typeface="Inter"/>
              <a:buNone/>
            </a:pPr>
            <a:r>
              <a:rPr b="0" i="0" lang="en-US" sz="942" u="none" cap="none" strike="noStrike">
                <a:solidFill>
                  <a:srgbClr val="2D3748"/>
                </a:solidFill>
                <a:latin typeface="Inter"/>
                <a:ea typeface="Inter"/>
                <a:cs typeface="Inter"/>
                <a:sym typeface="Inter"/>
              </a:rPr>
              <a:t>Engagement : Vers des alternatives plus éthiques.</a:t>
            </a:r>
            <a:endParaRPr b="0" i="0" sz="942" u="none" cap="none" strike="noStrike">
              <a:solidFill>
                <a:schemeClr val="dk1"/>
              </a:solidFill>
              <a:latin typeface="Calibri"/>
              <a:ea typeface="Calibri"/>
              <a:cs typeface="Calibri"/>
              <a:sym typeface="Calibri"/>
            </a:endParaRPr>
          </a:p>
        </p:txBody>
      </p:sp>
      <p:sp>
        <p:nvSpPr>
          <p:cNvPr id="215" name="Google Shape;215;p9"/>
          <p:cNvSpPr/>
          <p:nvPr/>
        </p:nvSpPr>
        <p:spPr>
          <a:xfrm>
            <a:off x="0" y="3632597"/>
            <a:ext cx="9144000" cy="492919"/>
          </a:xfrm>
          <a:prstGeom prst="rect">
            <a:avLst/>
          </a:prstGeom>
          <a:noFill/>
          <a:ln>
            <a:noFill/>
          </a:ln>
        </p:spPr>
        <p:txBody>
          <a:bodyPr anchorCtr="0" anchor="t" bIns="0" lIns="0" spcFirstLastPara="1" rIns="0" wrap="square" tIns="340225">
            <a:spAutoFit/>
          </a:bodyPr>
          <a:lstStyle/>
          <a:p>
            <a:pPr indent="0" lvl="0" marL="0" marR="0" rtl="0" algn="ctr">
              <a:lnSpc>
                <a:spcPct val="134115"/>
              </a:lnSpc>
              <a:spcBef>
                <a:spcPts val="0"/>
              </a:spcBef>
              <a:spcAft>
                <a:spcPts val="0"/>
              </a:spcAft>
              <a:buClr>
                <a:srgbClr val="3182CE"/>
              </a:buClr>
              <a:buSzPts val="1193"/>
              <a:buFont typeface="Inter"/>
              <a:buNone/>
            </a:pPr>
            <a:r>
              <a:rPr b="1" i="0" lang="en-US" sz="1193" u="none" cap="none" strike="noStrike">
                <a:solidFill>
                  <a:srgbClr val="3182CE"/>
                </a:solidFill>
                <a:latin typeface="Inter"/>
                <a:ea typeface="Inter"/>
                <a:cs typeface="Inter"/>
                <a:sym typeface="Inter"/>
              </a:rPr>
              <a:t>MERCI DE VOTRE ATTENTION</a:t>
            </a:r>
            <a:endParaRPr b="0" i="0" sz="1193"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descr="preencoded.png" id="221" name="Google Shape;221;p1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22" name="Google Shape;222;p10"/>
          <p:cNvSpPr/>
          <p:nvPr/>
        </p:nvSpPr>
        <p:spPr>
          <a:xfrm>
            <a:off x="714375" y="428625"/>
            <a:ext cx="5740003" cy="466130"/>
          </a:xfrm>
          <a:prstGeom prst="rect">
            <a:avLst/>
          </a:prstGeom>
          <a:noFill/>
          <a:ln>
            <a:noFill/>
          </a:ln>
        </p:spPr>
        <p:txBody>
          <a:bodyPr anchorCtr="0" anchor="t" bIns="85075" lIns="0" spcFirstLastPara="1" rIns="0" wrap="square" tIns="0">
            <a:spAutoFit/>
          </a:bodyPr>
          <a:lstStyle/>
          <a:p>
            <a:pPr indent="0" lvl="0" marL="0" marR="0" rtl="0" algn="l">
              <a:lnSpc>
                <a:spcPct val="132013"/>
              </a:lnSpc>
              <a:spcBef>
                <a:spcPts val="0"/>
              </a:spcBef>
              <a:spcAft>
                <a:spcPts val="0"/>
              </a:spcAft>
              <a:buClr>
                <a:srgbClr val="1A202C"/>
              </a:buClr>
              <a:buSzPts val="2121"/>
              <a:buFont typeface="Montserrat"/>
              <a:buNone/>
            </a:pPr>
            <a:r>
              <a:rPr b="1" i="0" lang="en-US" sz="2121" u="none" cap="none" strike="noStrike">
                <a:solidFill>
                  <a:srgbClr val="1A202C"/>
                </a:solidFill>
                <a:latin typeface="Montserrat"/>
                <a:ea typeface="Montserrat"/>
                <a:cs typeface="Montserrat"/>
                <a:sym typeface="Montserrat"/>
              </a:rPr>
              <a:t>BIBLIOGRAPHIE ET SITOGRAPHIE</a:t>
            </a:r>
            <a:endParaRPr b="0" i="0" sz="2121" u="none" cap="none" strike="noStrike">
              <a:solidFill>
                <a:schemeClr val="dk1"/>
              </a:solidFill>
              <a:latin typeface="Calibri"/>
              <a:ea typeface="Calibri"/>
              <a:cs typeface="Calibri"/>
              <a:sym typeface="Calibri"/>
            </a:endParaRPr>
          </a:p>
        </p:txBody>
      </p:sp>
      <p:pic>
        <p:nvPicPr>
          <p:cNvPr descr="preencoded.png" id="223" name="Google Shape;223;p10"/>
          <p:cNvPicPr preferRelativeResize="0"/>
          <p:nvPr/>
        </p:nvPicPr>
        <p:blipFill rotWithShape="1">
          <a:blip r:embed="rId4">
            <a:alphaModFix/>
          </a:blip>
          <a:srcRect b="0" l="0" r="0" t="0"/>
          <a:stretch/>
        </p:blipFill>
        <p:spPr>
          <a:xfrm>
            <a:off x="714375" y="1340346"/>
            <a:ext cx="137517" cy="157163"/>
          </a:xfrm>
          <a:prstGeom prst="rect">
            <a:avLst/>
          </a:prstGeom>
          <a:noFill/>
          <a:ln>
            <a:noFill/>
          </a:ln>
        </p:spPr>
      </p:pic>
      <p:sp>
        <p:nvSpPr>
          <p:cNvPr id="224" name="Google Shape;224;p10"/>
          <p:cNvSpPr/>
          <p:nvPr/>
        </p:nvSpPr>
        <p:spPr>
          <a:xfrm>
            <a:off x="959048" y="1323380"/>
            <a:ext cx="2041327" cy="191095"/>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3182CE"/>
              </a:buClr>
              <a:buSzPts val="1090"/>
              <a:buFont typeface="Montserrat"/>
              <a:buNone/>
            </a:pPr>
            <a:r>
              <a:rPr b="1" i="0" lang="en-US" sz="1090" u="none" cap="none" strike="noStrike">
                <a:solidFill>
                  <a:srgbClr val="3182CE"/>
                </a:solidFill>
                <a:latin typeface="Montserrat"/>
                <a:ea typeface="Montserrat"/>
                <a:cs typeface="Montserrat"/>
                <a:sym typeface="Montserrat"/>
              </a:rPr>
              <a:t>OUVRAGES &amp; RAPPORTS</a:t>
            </a:r>
            <a:endParaRPr b="0" i="0" sz="1090" u="none" cap="none" strike="noStrike">
              <a:solidFill>
                <a:schemeClr val="dk1"/>
              </a:solidFill>
              <a:latin typeface="Calibri"/>
              <a:ea typeface="Calibri"/>
              <a:cs typeface="Calibri"/>
              <a:sym typeface="Calibri"/>
            </a:endParaRPr>
          </a:p>
        </p:txBody>
      </p:sp>
      <p:sp>
        <p:nvSpPr>
          <p:cNvPr id="225" name="Google Shape;225;p10"/>
          <p:cNvSpPr/>
          <p:nvPr/>
        </p:nvSpPr>
        <p:spPr>
          <a:xfrm>
            <a:off x="835819" y="1657350"/>
            <a:ext cx="3593306"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D3748"/>
              </a:buClr>
              <a:buSzPts val="885"/>
              <a:buFont typeface="Inter"/>
              <a:buNone/>
            </a:pPr>
            <a:r>
              <a:rPr b="1" i="0" lang="en-US" sz="885" u="none" cap="none" strike="noStrike">
                <a:solidFill>
                  <a:srgbClr val="2D3748"/>
                </a:solidFill>
                <a:latin typeface="Inter"/>
                <a:ea typeface="Inter"/>
                <a:cs typeface="Inter"/>
                <a:sym typeface="Inter"/>
              </a:rPr>
              <a:t>L'Âge du capitalisme de surveillance</a:t>
            </a:r>
            <a:endParaRPr b="0" i="0" sz="885" u="none" cap="none" strike="noStrike">
              <a:solidFill>
                <a:schemeClr val="dk1"/>
              </a:solidFill>
              <a:latin typeface="Calibri"/>
              <a:ea typeface="Calibri"/>
              <a:cs typeface="Calibri"/>
              <a:sym typeface="Calibri"/>
            </a:endParaRPr>
          </a:p>
        </p:txBody>
      </p:sp>
      <p:sp>
        <p:nvSpPr>
          <p:cNvPr id="226" name="Google Shape;226;p10"/>
          <p:cNvSpPr/>
          <p:nvPr/>
        </p:nvSpPr>
        <p:spPr>
          <a:xfrm>
            <a:off x="835819" y="1812727"/>
            <a:ext cx="1298377" cy="137517"/>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718096"/>
              </a:buClr>
              <a:buSzPts val="834"/>
              <a:buFont typeface="Inter"/>
              <a:buNone/>
            </a:pPr>
            <a:r>
              <a:rPr b="0" i="1" lang="en-US" sz="834" u="none" cap="none" strike="noStrike">
                <a:solidFill>
                  <a:srgbClr val="718096"/>
                </a:solidFill>
                <a:latin typeface="Inter"/>
                <a:ea typeface="Inter"/>
                <a:cs typeface="Inter"/>
                <a:sym typeface="Inter"/>
              </a:rPr>
              <a:t>Shoshana Zuboff (2019)</a:t>
            </a:r>
            <a:endParaRPr b="0" i="0" sz="834" u="none" cap="none" strike="noStrike">
              <a:solidFill>
                <a:schemeClr val="dk1"/>
              </a:solidFill>
              <a:latin typeface="Calibri"/>
              <a:ea typeface="Calibri"/>
              <a:cs typeface="Calibri"/>
              <a:sym typeface="Calibri"/>
            </a:endParaRPr>
          </a:p>
        </p:txBody>
      </p:sp>
      <p:sp>
        <p:nvSpPr>
          <p:cNvPr id="227" name="Google Shape;227;p10"/>
          <p:cNvSpPr/>
          <p:nvPr/>
        </p:nvSpPr>
        <p:spPr>
          <a:xfrm>
            <a:off x="835819" y="2057400"/>
            <a:ext cx="3593306"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D3748"/>
              </a:buClr>
              <a:buSzPts val="885"/>
              <a:buFont typeface="Inter"/>
              <a:buNone/>
            </a:pPr>
            <a:r>
              <a:rPr b="1" i="0" lang="en-US" sz="885" u="none" cap="none" strike="noStrike">
                <a:solidFill>
                  <a:srgbClr val="2D3748"/>
                </a:solidFill>
                <a:latin typeface="Inter"/>
                <a:ea typeface="Inter"/>
                <a:cs typeface="Inter"/>
                <a:sym typeface="Inter"/>
              </a:rPr>
              <a:t>Rapport sur le Digital Markets Act (DMA)</a:t>
            </a:r>
            <a:endParaRPr b="0" i="0" sz="885" u="none" cap="none" strike="noStrike">
              <a:solidFill>
                <a:schemeClr val="dk1"/>
              </a:solidFill>
              <a:latin typeface="Calibri"/>
              <a:ea typeface="Calibri"/>
              <a:cs typeface="Calibri"/>
              <a:sym typeface="Calibri"/>
            </a:endParaRPr>
          </a:p>
        </p:txBody>
      </p:sp>
      <p:sp>
        <p:nvSpPr>
          <p:cNvPr id="228" name="Google Shape;228;p10"/>
          <p:cNvSpPr/>
          <p:nvPr/>
        </p:nvSpPr>
        <p:spPr>
          <a:xfrm>
            <a:off x="835819" y="2212777"/>
            <a:ext cx="1741289" cy="137517"/>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718096"/>
              </a:buClr>
              <a:buSzPts val="834"/>
              <a:buFont typeface="Inter"/>
              <a:buNone/>
            </a:pPr>
            <a:r>
              <a:rPr b="0" i="1" lang="en-US" sz="834" u="none" cap="none" strike="noStrike">
                <a:solidFill>
                  <a:srgbClr val="718096"/>
                </a:solidFill>
                <a:latin typeface="Inter"/>
                <a:ea typeface="Inter"/>
                <a:cs typeface="Inter"/>
                <a:sym typeface="Inter"/>
              </a:rPr>
              <a:t>Commission Européenne (2022)</a:t>
            </a:r>
            <a:endParaRPr b="0" i="0" sz="834" u="none" cap="none" strike="noStrike">
              <a:solidFill>
                <a:schemeClr val="dk1"/>
              </a:solidFill>
              <a:latin typeface="Calibri"/>
              <a:ea typeface="Calibri"/>
              <a:cs typeface="Calibri"/>
              <a:sym typeface="Calibri"/>
            </a:endParaRPr>
          </a:p>
        </p:txBody>
      </p:sp>
      <p:sp>
        <p:nvSpPr>
          <p:cNvPr id="229" name="Google Shape;229;p10"/>
          <p:cNvSpPr/>
          <p:nvPr/>
        </p:nvSpPr>
        <p:spPr>
          <a:xfrm>
            <a:off x="835819" y="2457450"/>
            <a:ext cx="3593306"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D3748"/>
              </a:buClr>
              <a:buSzPts val="885"/>
              <a:buFont typeface="Inter"/>
              <a:buNone/>
            </a:pPr>
            <a:r>
              <a:rPr b="1" i="0" lang="en-US" sz="885" u="none" cap="none" strike="noStrike">
                <a:solidFill>
                  <a:srgbClr val="2D3748"/>
                </a:solidFill>
                <a:latin typeface="Inter"/>
                <a:ea typeface="Inter"/>
                <a:cs typeface="Inter"/>
                <a:sym typeface="Inter"/>
              </a:rPr>
              <a:t>Les GAFAM et la souveraineté numérique</a:t>
            </a:r>
            <a:endParaRPr b="0" i="0" sz="885" u="none" cap="none" strike="noStrike">
              <a:solidFill>
                <a:schemeClr val="dk1"/>
              </a:solidFill>
              <a:latin typeface="Calibri"/>
              <a:ea typeface="Calibri"/>
              <a:cs typeface="Calibri"/>
              <a:sym typeface="Calibri"/>
            </a:endParaRPr>
          </a:p>
        </p:txBody>
      </p:sp>
      <p:sp>
        <p:nvSpPr>
          <p:cNvPr id="230" name="Google Shape;230;p10"/>
          <p:cNvSpPr/>
          <p:nvPr/>
        </p:nvSpPr>
        <p:spPr>
          <a:xfrm>
            <a:off x="835819" y="2612827"/>
            <a:ext cx="1453753" cy="137517"/>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718096"/>
              </a:buClr>
              <a:buSzPts val="834"/>
              <a:buFont typeface="Inter"/>
              <a:buNone/>
            </a:pPr>
            <a:r>
              <a:rPr b="0" i="1" lang="en-US" sz="834" u="none" cap="none" strike="noStrike">
                <a:solidFill>
                  <a:srgbClr val="718096"/>
                </a:solidFill>
                <a:latin typeface="Inter"/>
                <a:ea typeface="Inter"/>
                <a:cs typeface="Inter"/>
                <a:sym typeface="Inter"/>
              </a:rPr>
              <a:t>Rapport de l'ARCEP (2023)</a:t>
            </a:r>
            <a:endParaRPr b="0" i="0" sz="834" u="none" cap="none" strike="noStrike">
              <a:solidFill>
                <a:schemeClr val="dk1"/>
              </a:solidFill>
              <a:latin typeface="Calibri"/>
              <a:ea typeface="Calibri"/>
              <a:cs typeface="Calibri"/>
              <a:sym typeface="Calibri"/>
            </a:endParaRPr>
          </a:p>
        </p:txBody>
      </p:sp>
      <p:pic>
        <p:nvPicPr>
          <p:cNvPr descr="preencoded.png" id="231" name="Google Shape;231;p10"/>
          <p:cNvPicPr preferRelativeResize="0"/>
          <p:nvPr/>
        </p:nvPicPr>
        <p:blipFill rotWithShape="1">
          <a:blip r:embed="rId5">
            <a:alphaModFix/>
          </a:blip>
          <a:srcRect b="0" l="0" r="0" t="0"/>
          <a:stretch/>
        </p:blipFill>
        <p:spPr>
          <a:xfrm>
            <a:off x="4857750" y="1340346"/>
            <a:ext cx="157163" cy="157163"/>
          </a:xfrm>
          <a:prstGeom prst="rect">
            <a:avLst/>
          </a:prstGeom>
          <a:noFill/>
          <a:ln>
            <a:noFill/>
          </a:ln>
        </p:spPr>
      </p:pic>
      <p:sp>
        <p:nvSpPr>
          <p:cNvPr id="232" name="Google Shape;232;p10"/>
          <p:cNvSpPr/>
          <p:nvPr/>
        </p:nvSpPr>
        <p:spPr>
          <a:xfrm>
            <a:off x="5122069" y="1323380"/>
            <a:ext cx="1764506" cy="191095"/>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3182CE"/>
              </a:buClr>
              <a:buSzPts val="1090"/>
              <a:buFont typeface="Montserrat"/>
              <a:buNone/>
            </a:pPr>
            <a:r>
              <a:rPr b="1" i="0" lang="en-US" sz="1090" u="none" cap="none" strike="noStrike">
                <a:solidFill>
                  <a:srgbClr val="3182CE"/>
                </a:solidFill>
                <a:latin typeface="Montserrat"/>
                <a:ea typeface="Montserrat"/>
                <a:cs typeface="Montserrat"/>
                <a:sym typeface="Montserrat"/>
              </a:rPr>
              <a:t>SITES WEB &amp; MÉDIAS</a:t>
            </a:r>
            <a:endParaRPr b="0" i="0" sz="1090" u="none" cap="none" strike="noStrike">
              <a:solidFill>
                <a:schemeClr val="dk1"/>
              </a:solidFill>
              <a:latin typeface="Calibri"/>
              <a:ea typeface="Calibri"/>
              <a:cs typeface="Calibri"/>
              <a:sym typeface="Calibri"/>
            </a:endParaRPr>
          </a:p>
        </p:txBody>
      </p:sp>
      <p:sp>
        <p:nvSpPr>
          <p:cNvPr id="233" name="Google Shape;233;p10"/>
          <p:cNvSpPr/>
          <p:nvPr/>
        </p:nvSpPr>
        <p:spPr>
          <a:xfrm>
            <a:off x="4979194" y="1657350"/>
            <a:ext cx="3593306"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D3748"/>
              </a:buClr>
              <a:buSzPts val="885"/>
              <a:buFont typeface="Inter"/>
              <a:buNone/>
            </a:pPr>
            <a:r>
              <a:rPr b="1" i="0" lang="en-US" sz="885" u="none" cap="none" strike="noStrike">
                <a:solidFill>
                  <a:srgbClr val="2D3748"/>
                </a:solidFill>
                <a:latin typeface="Inter"/>
                <a:ea typeface="Inter"/>
                <a:cs typeface="Inter"/>
                <a:sym typeface="Inter"/>
              </a:rPr>
              <a:t>CNIL.fr</a:t>
            </a:r>
            <a:endParaRPr b="0" i="0" sz="885" u="none" cap="none" strike="noStrike">
              <a:solidFill>
                <a:schemeClr val="dk1"/>
              </a:solidFill>
              <a:latin typeface="Calibri"/>
              <a:ea typeface="Calibri"/>
              <a:cs typeface="Calibri"/>
              <a:sym typeface="Calibri"/>
            </a:endParaRPr>
          </a:p>
        </p:txBody>
      </p:sp>
      <p:sp>
        <p:nvSpPr>
          <p:cNvPr id="234" name="Google Shape;234;p10"/>
          <p:cNvSpPr/>
          <p:nvPr/>
        </p:nvSpPr>
        <p:spPr>
          <a:xfrm>
            <a:off x="4979194" y="1827014"/>
            <a:ext cx="2625328" cy="121444"/>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3182CE"/>
              </a:buClr>
              <a:buSzPts val="727"/>
              <a:buFont typeface="Inter"/>
              <a:buNone/>
            </a:pPr>
            <a:r>
              <a:rPr b="0" i="0" lang="en-US" sz="727" u="none" cap="none" strike="noStrike">
                <a:solidFill>
                  <a:srgbClr val="3182CE"/>
                </a:solidFill>
                <a:latin typeface="Inter"/>
                <a:ea typeface="Inter"/>
                <a:cs typeface="Inter"/>
                <a:sym typeface="Inter"/>
              </a:rPr>
              <a:t>Commission Nationale de l'Informatique et des Libertés</a:t>
            </a:r>
            <a:endParaRPr b="0" i="0" sz="727" u="none" cap="none" strike="noStrike">
              <a:solidFill>
                <a:schemeClr val="dk1"/>
              </a:solidFill>
              <a:latin typeface="Calibri"/>
              <a:ea typeface="Calibri"/>
              <a:cs typeface="Calibri"/>
              <a:sym typeface="Calibri"/>
            </a:endParaRPr>
          </a:p>
        </p:txBody>
      </p:sp>
      <p:sp>
        <p:nvSpPr>
          <p:cNvPr id="235" name="Google Shape;235;p10"/>
          <p:cNvSpPr/>
          <p:nvPr/>
        </p:nvSpPr>
        <p:spPr>
          <a:xfrm>
            <a:off x="4979194" y="2057400"/>
            <a:ext cx="3593306"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D3748"/>
              </a:buClr>
              <a:buSzPts val="885"/>
              <a:buFont typeface="Inter"/>
              <a:buNone/>
            </a:pPr>
            <a:r>
              <a:rPr b="1" i="0" lang="en-US" sz="885" u="none" cap="none" strike="noStrike">
                <a:solidFill>
                  <a:srgbClr val="2D3748"/>
                </a:solidFill>
                <a:latin typeface="Inter"/>
                <a:ea typeface="Inter"/>
                <a:cs typeface="Inter"/>
                <a:sym typeface="Inter"/>
              </a:rPr>
              <a:t>Le Monde Pixels</a:t>
            </a:r>
            <a:endParaRPr b="0" i="0" sz="885" u="none" cap="none" strike="noStrike">
              <a:solidFill>
                <a:schemeClr val="dk1"/>
              </a:solidFill>
              <a:latin typeface="Calibri"/>
              <a:ea typeface="Calibri"/>
              <a:cs typeface="Calibri"/>
              <a:sym typeface="Calibri"/>
            </a:endParaRPr>
          </a:p>
        </p:txBody>
      </p:sp>
      <p:sp>
        <p:nvSpPr>
          <p:cNvPr id="236" name="Google Shape;236;p10"/>
          <p:cNvSpPr/>
          <p:nvPr/>
        </p:nvSpPr>
        <p:spPr>
          <a:xfrm>
            <a:off x="4979194" y="2227064"/>
            <a:ext cx="1814513" cy="121444"/>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3182CE"/>
              </a:buClr>
              <a:buSzPts val="727"/>
              <a:buFont typeface="Inter"/>
              <a:buNone/>
            </a:pPr>
            <a:r>
              <a:rPr b="0" i="0" lang="en-US" sz="727" u="none" cap="none" strike="noStrike">
                <a:solidFill>
                  <a:srgbClr val="3182CE"/>
                </a:solidFill>
                <a:latin typeface="Inter"/>
                <a:ea typeface="Inter"/>
                <a:cs typeface="Inter"/>
                <a:sym typeface="Inter"/>
              </a:rPr>
              <a:t>Rubrique spécialisée sur le numérique</a:t>
            </a:r>
            <a:endParaRPr b="0" i="0" sz="727" u="none" cap="none" strike="noStrike">
              <a:solidFill>
                <a:schemeClr val="dk1"/>
              </a:solidFill>
              <a:latin typeface="Calibri"/>
              <a:ea typeface="Calibri"/>
              <a:cs typeface="Calibri"/>
              <a:sym typeface="Calibri"/>
            </a:endParaRPr>
          </a:p>
        </p:txBody>
      </p:sp>
      <p:sp>
        <p:nvSpPr>
          <p:cNvPr id="237" name="Google Shape;237;p10"/>
          <p:cNvSpPr/>
          <p:nvPr/>
        </p:nvSpPr>
        <p:spPr>
          <a:xfrm>
            <a:off x="4979194" y="2457450"/>
            <a:ext cx="3593306"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D3748"/>
              </a:buClr>
              <a:buSzPts val="885"/>
              <a:buFont typeface="Inter"/>
              <a:buNone/>
            </a:pPr>
            <a:r>
              <a:rPr b="1" i="0" lang="en-US" sz="885" u="none" cap="none" strike="noStrike">
                <a:solidFill>
                  <a:srgbClr val="2D3748"/>
                </a:solidFill>
                <a:latin typeface="Inter"/>
                <a:ea typeface="Inter"/>
                <a:cs typeface="Inter"/>
                <a:sym typeface="Inter"/>
              </a:rPr>
              <a:t>ARCEP.fr</a:t>
            </a:r>
            <a:endParaRPr b="0" i="0" sz="885" u="none" cap="none" strike="noStrike">
              <a:solidFill>
                <a:schemeClr val="dk1"/>
              </a:solidFill>
              <a:latin typeface="Calibri"/>
              <a:ea typeface="Calibri"/>
              <a:cs typeface="Calibri"/>
              <a:sym typeface="Calibri"/>
            </a:endParaRPr>
          </a:p>
        </p:txBody>
      </p:sp>
      <p:sp>
        <p:nvSpPr>
          <p:cNvPr id="238" name="Google Shape;238;p10"/>
          <p:cNvSpPr/>
          <p:nvPr/>
        </p:nvSpPr>
        <p:spPr>
          <a:xfrm>
            <a:off x="4979194" y="2627114"/>
            <a:ext cx="2032397" cy="121444"/>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3182CE"/>
              </a:buClr>
              <a:buSzPts val="727"/>
              <a:buFont typeface="Inter"/>
              <a:buNone/>
            </a:pPr>
            <a:r>
              <a:rPr b="0" i="0" lang="en-US" sz="727" u="none" cap="none" strike="noStrike">
                <a:solidFill>
                  <a:srgbClr val="3182CE"/>
                </a:solidFill>
                <a:latin typeface="Inter"/>
                <a:ea typeface="Inter"/>
                <a:cs typeface="Inter"/>
                <a:sym typeface="Inter"/>
              </a:rPr>
              <a:t>Autorité de régulation des communications</a:t>
            </a:r>
            <a:endParaRPr b="0" i="0" sz="727" u="none" cap="none" strike="noStrike">
              <a:solidFill>
                <a:schemeClr val="dk1"/>
              </a:solidFill>
              <a:latin typeface="Calibri"/>
              <a:ea typeface="Calibri"/>
              <a:cs typeface="Calibri"/>
              <a:sym typeface="Calibri"/>
            </a:endParaRPr>
          </a:p>
        </p:txBody>
      </p:sp>
      <p:pic>
        <p:nvPicPr>
          <p:cNvPr descr="preencoded.png" id="239" name="Google Shape;239;p10"/>
          <p:cNvPicPr preferRelativeResize="0"/>
          <p:nvPr/>
        </p:nvPicPr>
        <p:blipFill rotWithShape="1">
          <a:blip r:embed="rId6">
            <a:alphaModFix/>
          </a:blip>
          <a:srcRect b="0" l="0" r="0" t="0"/>
          <a:stretch/>
        </p:blipFill>
        <p:spPr>
          <a:xfrm>
            <a:off x="4857750" y="3053060"/>
            <a:ext cx="176808" cy="157163"/>
          </a:xfrm>
          <a:prstGeom prst="rect">
            <a:avLst/>
          </a:prstGeom>
          <a:noFill/>
          <a:ln>
            <a:noFill/>
          </a:ln>
        </p:spPr>
      </p:pic>
      <p:sp>
        <p:nvSpPr>
          <p:cNvPr id="240" name="Google Shape;240;p10"/>
          <p:cNvSpPr/>
          <p:nvPr/>
        </p:nvSpPr>
        <p:spPr>
          <a:xfrm>
            <a:off x="5141714" y="3036094"/>
            <a:ext cx="1466255" cy="191095"/>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3182CE"/>
              </a:buClr>
              <a:buSzPts val="1090"/>
              <a:buFont typeface="Montserrat"/>
              <a:buNone/>
            </a:pPr>
            <a:r>
              <a:rPr b="1" i="0" lang="en-US" sz="1090" u="none" cap="none" strike="noStrike">
                <a:solidFill>
                  <a:srgbClr val="3182CE"/>
                </a:solidFill>
                <a:latin typeface="Montserrat"/>
                <a:ea typeface="Montserrat"/>
                <a:cs typeface="Montserrat"/>
                <a:sym typeface="Montserrat"/>
              </a:rPr>
              <a:t>DOCUMENTAIRES</a:t>
            </a:r>
            <a:endParaRPr b="0" i="0" sz="1090" u="none" cap="none" strike="noStrike">
              <a:solidFill>
                <a:schemeClr val="dk1"/>
              </a:solidFill>
              <a:latin typeface="Calibri"/>
              <a:ea typeface="Calibri"/>
              <a:cs typeface="Calibri"/>
              <a:sym typeface="Calibri"/>
            </a:endParaRPr>
          </a:p>
        </p:txBody>
      </p:sp>
      <p:sp>
        <p:nvSpPr>
          <p:cNvPr id="241" name="Google Shape;241;p10"/>
          <p:cNvSpPr/>
          <p:nvPr/>
        </p:nvSpPr>
        <p:spPr>
          <a:xfrm>
            <a:off x="4979194" y="3370064"/>
            <a:ext cx="3593306" cy="155377"/>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2D3748"/>
              </a:buClr>
              <a:buSzPts val="885"/>
              <a:buFont typeface="Inter"/>
              <a:buNone/>
            </a:pPr>
            <a:r>
              <a:rPr b="1" i="0" lang="en-US" sz="885" u="none" cap="none" strike="noStrike">
                <a:solidFill>
                  <a:srgbClr val="2D3748"/>
                </a:solidFill>
                <a:latin typeface="Inter"/>
                <a:ea typeface="Inter"/>
                <a:cs typeface="Inter"/>
                <a:sym typeface="Inter"/>
              </a:rPr>
              <a:t>Derrière nos écrans de fumée</a:t>
            </a:r>
            <a:endParaRPr b="0" i="0" sz="885" u="none" cap="none" strike="noStrike">
              <a:solidFill>
                <a:schemeClr val="dk1"/>
              </a:solidFill>
              <a:latin typeface="Calibri"/>
              <a:ea typeface="Calibri"/>
              <a:cs typeface="Calibri"/>
              <a:sym typeface="Calibri"/>
            </a:endParaRPr>
          </a:p>
        </p:txBody>
      </p:sp>
      <p:sp>
        <p:nvSpPr>
          <p:cNvPr id="242" name="Google Shape;242;p10"/>
          <p:cNvSpPr/>
          <p:nvPr/>
        </p:nvSpPr>
        <p:spPr>
          <a:xfrm>
            <a:off x="4979194" y="3525441"/>
            <a:ext cx="744736" cy="137517"/>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718096"/>
              </a:buClr>
              <a:buSzPts val="834"/>
              <a:buFont typeface="Inter"/>
              <a:buNone/>
            </a:pPr>
            <a:r>
              <a:rPr b="0" i="1" lang="en-US" sz="834" u="none" cap="none" strike="noStrike">
                <a:solidFill>
                  <a:srgbClr val="718096"/>
                </a:solidFill>
                <a:latin typeface="Inter"/>
                <a:ea typeface="Inter"/>
                <a:cs typeface="Inter"/>
                <a:sym typeface="Inter"/>
              </a:rPr>
              <a:t>Netflix (2020)</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2026-03-16T18:31:24Z</dcterms:created>
  <dc:creator>PptxGenJS</dc:creator>
</cp:coreProperties>
</file>